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7"/>
  </p:notesMasterIdLst>
  <p:sldIdLst>
    <p:sldId id="288" r:id="rId2"/>
    <p:sldId id="271" r:id="rId3"/>
    <p:sldId id="257" r:id="rId4"/>
    <p:sldId id="272" r:id="rId5"/>
    <p:sldId id="273" r:id="rId6"/>
    <p:sldId id="259" r:id="rId7"/>
    <p:sldId id="260" r:id="rId8"/>
    <p:sldId id="289" r:id="rId9"/>
    <p:sldId id="290" r:id="rId10"/>
    <p:sldId id="261" r:id="rId11"/>
    <p:sldId id="291" r:id="rId12"/>
    <p:sldId id="262" r:id="rId13"/>
    <p:sldId id="275" r:id="rId14"/>
    <p:sldId id="263" r:id="rId15"/>
    <p:sldId id="285" r:id="rId16"/>
    <p:sldId id="286" r:id="rId17"/>
    <p:sldId id="287" r:id="rId18"/>
    <p:sldId id="264" r:id="rId19"/>
    <p:sldId id="297" r:id="rId20"/>
    <p:sldId id="292" r:id="rId21"/>
    <p:sldId id="298" r:id="rId22"/>
    <p:sldId id="279" r:id="rId23"/>
    <p:sldId id="295" r:id="rId24"/>
    <p:sldId id="296" r:id="rId25"/>
    <p:sldId id="270"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7"/>
    <p:restoredTop sz="80583" autoAdjust="0"/>
  </p:normalViewPr>
  <p:slideViewPr>
    <p:cSldViewPr snapToGrid="0" snapToObjects="1">
      <p:cViewPr varScale="1">
        <p:scale>
          <a:sx n="100" d="100"/>
          <a:sy n="100" d="100"/>
        </p:scale>
        <p:origin x="2200"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FBE73F-BAF2-0A44-9489-FB07A3D8A4D3}" type="datetimeFigureOut">
              <a:rPr lang="en-US" smtClean="0"/>
              <a:t>4/2/24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631184-520B-C341-8E4E-6681085B8CA3}" type="slidenum">
              <a:rPr lang="en-US" smtClean="0"/>
              <a:t>‹#›</a:t>
            </a:fld>
            <a:endParaRPr lang="en-US"/>
          </a:p>
        </p:txBody>
      </p:sp>
    </p:spTree>
    <p:extLst>
      <p:ext uri="{BB962C8B-B14F-4D97-AF65-F5344CB8AC3E}">
        <p14:creationId xmlns:p14="http://schemas.microsoft.com/office/powerpoint/2010/main" val="419243197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sz="1200" b="0" i="0" kern="1200" dirty="0">
                <a:solidFill>
                  <a:schemeClr val="tx1"/>
                </a:solidFill>
                <a:effectLst/>
                <a:latin typeface="+mn-lt"/>
                <a:ea typeface="+mn-ea"/>
                <a:cs typeface="+mn-cs"/>
              </a:rPr>
              <a:t>This material is based upon work supported by the National Science Foundation (DRL-1612515). Any opinions, findings, and conclusions or recommendations expressed in this material are those of the authors and do not necessarily reflect the views of the National Science Foundation.</a:t>
            </a:r>
            <a:endParaRPr lang="en-US" dirty="0"/>
          </a:p>
        </p:txBody>
      </p:sp>
      <p:sp>
        <p:nvSpPr>
          <p:cNvPr id="4" name="Slide Number Placeholder 3"/>
          <p:cNvSpPr>
            <a:spLocks noGrp="1"/>
          </p:cNvSpPr>
          <p:nvPr>
            <p:ph type="sldNum" sz="quarter" idx="10"/>
          </p:nvPr>
        </p:nvSpPr>
        <p:spPr/>
        <p:txBody>
          <a:bodyPr/>
          <a:lstStyle/>
          <a:p>
            <a:fld id="{6439CC8F-BBCC-2249-AC6D-1A95DBF95F17}" type="slidenum">
              <a:rPr lang="en-US" smtClean="0"/>
              <a:t>1</a:t>
            </a:fld>
            <a:endParaRPr lang="en-US"/>
          </a:p>
        </p:txBody>
      </p:sp>
    </p:spTree>
    <p:extLst>
      <p:ext uri="{BB962C8B-B14F-4D97-AF65-F5344CB8AC3E}">
        <p14:creationId xmlns:p14="http://schemas.microsoft.com/office/powerpoint/2010/main" val="52418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Image</a:t>
            </a:r>
            <a:r>
              <a:rPr lang="en-US" baseline="0" dirty="0"/>
              <a:t> credit: https://</a:t>
            </a:r>
            <a:r>
              <a:rPr lang="en-US" baseline="0" dirty="0" err="1"/>
              <a:t>pixabay.com</a:t>
            </a:r>
            <a:r>
              <a:rPr lang="en-US" baseline="0" dirty="0"/>
              <a:t>/</a:t>
            </a:r>
            <a:r>
              <a:rPr lang="en-US" baseline="0" dirty="0" err="1"/>
              <a:t>en</a:t>
            </a:r>
            <a:r>
              <a:rPr lang="en-US" baseline="0" dirty="0"/>
              <a:t>/post-it-sticky-note-note-memo-150262/</a:t>
            </a:r>
            <a:endParaRPr lang="en-US" dirty="0"/>
          </a:p>
        </p:txBody>
      </p:sp>
      <p:sp>
        <p:nvSpPr>
          <p:cNvPr id="4" name="Slide Number Placeholder 3"/>
          <p:cNvSpPr>
            <a:spLocks noGrp="1"/>
          </p:cNvSpPr>
          <p:nvPr>
            <p:ph type="sldNum" sz="quarter" idx="10"/>
          </p:nvPr>
        </p:nvSpPr>
        <p:spPr/>
        <p:txBody>
          <a:bodyPr/>
          <a:lstStyle/>
          <a:p>
            <a:fld id="{29631184-520B-C341-8E4E-6681085B8CA3}" type="slidenum">
              <a:rPr lang="en-US" smtClean="0"/>
              <a:t>2</a:t>
            </a:fld>
            <a:endParaRPr lang="en-US"/>
          </a:p>
        </p:txBody>
      </p:sp>
    </p:spTree>
    <p:extLst>
      <p:ext uri="{BB962C8B-B14F-4D97-AF65-F5344CB8AC3E}">
        <p14:creationId xmlns:p14="http://schemas.microsoft.com/office/powerpoint/2010/main" val="1163968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US" dirty="0"/>
          </a:p>
          <a:p>
            <a:endParaRPr lang="en-US" dirty="0"/>
          </a:p>
          <a:p>
            <a:r>
              <a:rPr lang="en-US" dirty="0"/>
              <a:t>Image</a:t>
            </a:r>
            <a:r>
              <a:rPr lang="en-US" baseline="0" dirty="0"/>
              <a:t> credit: https://</a:t>
            </a:r>
            <a:r>
              <a:rPr lang="en-US" baseline="0" dirty="0" err="1"/>
              <a:t>pixabay.com</a:t>
            </a:r>
            <a:r>
              <a:rPr lang="en-US" baseline="0" dirty="0"/>
              <a:t>/</a:t>
            </a:r>
            <a:r>
              <a:rPr lang="en-US" baseline="0" dirty="0" err="1"/>
              <a:t>en</a:t>
            </a:r>
            <a:r>
              <a:rPr lang="en-US" baseline="0" dirty="0"/>
              <a:t>/post-it-sticky-note-note-memo-150262/</a:t>
            </a:r>
            <a:endParaRPr lang="en-US" dirty="0"/>
          </a:p>
          <a:p>
            <a:endParaRPr lang="en-US" dirty="0"/>
          </a:p>
        </p:txBody>
      </p:sp>
      <p:sp>
        <p:nvSpPr>
          <p:cNvPr id="4" name="Slide Number Placeholder 3"/>
          <p:cNvSpPr>
            <a:spLocks noGrp="1"/>
          </p:cNvSpPr>
          <p:nvPr>
            <p:ph type="sldNum" sz="quarter" idx="10"/>
          </p:nvPr>
        </p:nvSpPr>
        <p:spPr/>
        <p:txBody>
          <a:bodyPr/>
          <a:lstStyle/>
          <a:p>
            <a:fld id="{29631184-520B-C341-8E4E-6681085B8CA3}" type="slidenum">
              <a:rPr lang="en-US" smtClean="0"/>
              <a:t>4</a:t>
            </a:fld>
            <a:endParaRPr lang="en-US"/>
          </a:p>
        </p:txBody>
      </p:sp>
    </p:spTree>
    <p:extLst>
      <p:ext uri="{BB962C8B-B14F-4D97-AF65-F5344CB8AC3E}">
        <p14:creationId xmlns:p14="http://schemas.microsoft.com/office/powerpoint/2010/main" val="17574087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Image credit:</a:t>
            </a:r>
          </a:p>
          <a:p>
            <a:r>
              <a:rPr lang="en-US" dirty="0"/>
              <a:t>https://</a:t>
            </a:r>
            <a:r>
              <a:rPr lang="en-US" dirty="0" err="1"/>
              <a:t>pixabay.com</a:t>
            </a:r>
            <a:r>
              <a:rPr lang="en-US" dirty="0"/>
              <a:t>/</a:t>
            </a:r>
            <a:r>
              <a:rPr lang="en-US" dirty="0" err="1"/>
              <a:t>en</a:t>
            </a:r>
            <a:r>
              <a:rPr lang="en-US" dirty="0"/>
              <a:t>/bulb-electricity-halo-idea-light-1293332/</a:t>
            </a:r>
          </a:p>
          <a:p>
            <a:r>
              <a:rPr lang="en-US" dirty="0"/>
              <a:t>https://</a:t>
            </a:r>
            <a:r>
              <a:rPr lang="en-US" dirty="0" err="1"/>
              <a:t>pixabay.com</a:t>
            </a:r>
            <a:r>
              <a:rPr lang="en-US" dirty="0"/>
              <a:t>/</a:t>
            </a:r>
            <a:r>
              <a:rPr lang="en-US" dirty="0" err="1"/>
              <a:t>en</a:t>
            </a:r>
            <a:r>
              <a:rPr lang="en-US" dirty="0"/>
              <a:t>/pear-brown-fruit-food-color-fresh-747664/</a:t>
            </a:r>
          </a:p>
          <a:p>
            <a:r>
              <a:rPr lang="en-US" dirty="0"/>
              <a:t>https://</a:t>
            </a:r>
            <a:r>
              <a:rPr lang="en-US" dirty="0" err="1"/>
              <a:t>pixabay.com</a:t>
            </a:r>
            <a:r>
              <a:rPr lang="en-US" dirty="0"/>
              <a:t>/</a:t>
            </a:r>
            <a:r>
              <a:rPr lang="en-US" dirty="0" err="1"/>
              <a:t>en</a:t>
            </a:r>
            <a:r>
              <a:rPr lang="en-US" dirty="0"/>
              <a:t>/share-connect-icon-880816/</a:t>
            </a:r>
          </a:p>
          <a:p>
            <a:endParaRPr lang="en-US" dirty="0"/>
          </a:p>
        </p:txBody>
      </p:sp>
      <p:sp>
        <p:nvSpPr>
          <p:cNvPr id="4" name="Slide Number Placeholder 3"/>
          <p:cNvSpPr>
            <a:spLocks noGrp="1"/>
          </p:cNvSpPr>
          <p:nvPr>
            <p:ph type="sldNum" sz="quarter" idx="10"/>
          </p:nvPr>
        </p:nvSpPr>
        <p:spPr/>
        <p:txBody>
          <a:bodyPr/>
          <a:lstStyle/>
          <a:p>
            <a:fld id="{29631184-520B-C341-8E4E-6681085B8CA3}" type="slidenum">
              <a:rPr lang="en-US" smtClean="0"/>
              <a:t>5</a:t>
            </a:fld>
            <a:endParaRPr lang="en-US"/>
          </a:p>
        </p:txBody>
      </p:sp>
    </p:spTree>
    <p:extLst>
      <p:ext uri="{BB962C8B-B14F-4D97-AF65-F5344CB8AC3E}">
        <p14:creationId xmlns:p14="http://schemas.microsoft.com/office/powerpoint/2010/main" val="1001792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Image credit: https://</a:t>
            </a:r>
            <a:r>
              <a:rPr lang="en-US" dirty="0" err="1"/>
              <a:t>pixabay.com</a:t>
            </a:r>
            <a:r>
              <a:rPr lang="en-US" dirty="0"/>
              <a:t>/</a:t>
            </a:r>
            <a:r>
              <a:rPr lang="en-US" dirty="0" err="1"/>
              <a:t>en</a:t>
            </a:r>
            <a:r>
              <a:rPr lang="en-US" dirty="0"/>
              <a:t>/water-ice-glass-liquid-663100/</a:t>
            </a:r>
          </a:p>
        </p:txBody>
      </p:sp>
      <p:sp>
        <p:nvSpPr>
          <p:cNvPr id="4" name="Slide Number Placeholder 3"/>
          <p:cNvSpPr>
            <a:spLocks noGrp="1"/>
          </p:cNvSpPr>
          <p:nvPr>
            <p:ph type="sldNum" sz="quarter" idx="10"/>
          </p:nvPr>
        </p:nvSpPr>
        <p:spPr/>
        <p:txBody>
          <a:bodyPr/>
          <a:lstStyle/>
          <a:p>
            <a:fld id="{29631184-520B-C341-8E4E-6681085B8CA3}" type="slidenum">
              <a:rPr lang="en-US" smtClean="0"/>
              <a:t>6</a:t>
            </a:fld>
            <a:endParaRPr lang="en-US"/>
          </a:p>
        </p:txBody>
      </p:sp>
    </p:spTree>
    <p:extLst>
      <p:ext uri="{BB962C8B-B14F-4D97-AF65-F5344CB8AC3E}">
        <p14:creationId xmlns:p14="http://schemas.microsoft.com/office/powerpoint/2010/main" val="889366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US" dirty="0"/>
          </a:p>
          <a:p>
            <a:r>
              <a:rPr lang="en-US" dirty="0"/>
              <a:t>Image credit: https://</a:t>
            </a:r>
            <a:r>
              <a:rPr lang="en-US" dirty="0" err="1"/>
              <a:t>pixabay.com</a:t>
            </a:r>
            <a:r>
              <a:rPr lang="en-US" dirty="0"/>
              <a:t>/</a:t>
            </a:r>
            <a:r>
              <a:rPr lang="en-US" dirty="0" err="1"/>
              <a:t>en</a:t>
            </a:r>
            <a:r>
              <a:rPr lang="en-US" dirty="0"/>
              <a:t>/watercolour-paint-dripping-ink-1755724/</a:t>
            </a:r>
          </a:p>
        </p:txBody>
      </p:sp>
      <p:sp>
        <p:nvSpPr>
          <p:cNvPr id="4" name="Slide Number Placeholder 3"/>
          <p:cNvSpPr>
            <a:spLocks noGrp="1"/>
          </p:cNvSpPr>
          <p:nvPr>
            <p:ph type="sldNum" sz="quarter" idx="10"/>
          </p:nvPr>
        </p:nvSpPr>
        <p:spPr/>
        <p:txBody>
          <a:bodyPr/>
          <a:lstStyle/>
          <a:p>
            <a:fld id="{29631184-520B-C341-8E4E-6681085B8CA3}" type="slidenum">
              <a:rPr lang="en-US" smtClean="0"/>
              <a:t>8</a:t>
            </a:fld>
            <a:endParaRPr lang="en-US"/>
          </a:p>
        </p:txBody>
      </p:sp>
    </p:spTree>
    <p:extLst>
      <p:ext uri="{BB962C8B-B14F-4D97-AF65-F5344CB8AC3E}">
        <p14:creationId xmlns:p14="http://schemas.microsoft.com/office/powerpoint/2010/main" val="1950866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Image credit: https://</a:t>
            </a:r>
            <a:r>
              <a:rPr lang="en-US" dirty="0" err="1"/>
              <a:t>pixabay.com</a:t>
            </a:r>
            <a:r>
              <a:rPr lang="en-US" dirty="0"/>
              <a:t>/</a:t>
            </a:r>
            <a:r>
              <a:rPr lang="en-US" dirty="0" err="1"/>
              <a:t>en</a:t>
            </a:r>
            <a:r>
              <a:rPr lang="en-US" dirty="0"/>
              <a:t>/water-ice-glass-liquid-663100/</a:t>
            </a:r>
          </a:p>
          <a:p>
            <a:endParaRPr lang="en-US" dirty="0"/>
          </a:p>
        </p:txBody>
      </p:sp>
      <p:sp>
        <p:nvSpPr>
          <p:cNvPr id="4" name="Slide Number Placeholder 3"/>
          <p:cNvSpPr>
            <a:spLocks noGrp="1"/>
          </p:cNvSpPr>
          <p:nvPr>
            <p:ph type="sldNum" sz="quarter" idx="10"/>
          </p:nvPr>
        </p:nvSpPr>
        <p:spPr/>
        <p:txBody>
          <a:bodyPr/>
          <a:lstStyle/>
          <a:p>
            <a:fld id="{29631184-520B-C341-8E4E-6681085B8CA3}" type="slidenum">
              <a:rPr lang="en-US" smtClean="0"/>
              <a:t>9</a:t>
            </a:fld>
            <a:endParaRPr lang="en-US"/>
          </a:p>
        </p:txBody>
      </p:sp>
    </p:spTree>
    <p:extLst>
      <p:ext uri="{BB962C8B-B14F-4D97-AF65-F5344CB8AC3E}">
        <p14:creationId xmlns:p14="http://schemas.microsoft.com/office/powerpoint/2010/main" val="750108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Image credit: https://</a:t>
            </a:r>
            <a:r>
              <a:rPr lang="en-US" dirty="0" err="1"/>
              <a:t>pixabay.com</a:t>
            </a:r>
            <a:r>
              <a:rPr lang="en-US" dirty="0"/>
              <a:t>/</a:t>
            </a:r>
            <a:r>
              <a:rPr lang="en-US" dirty="0" err="1"/>
              <a:t>en</a:t>
            </a:r>
            <a:r>
              <a:rPr lang="en-US" dirty="0"/>
              <a:t>/chat-discussion-meeting-talk-23713/</a:t>
            </a:r>
          </a:p>
        </p:txBody>
      </p:sp>
      <p:sp>
        <p:nvSpPr>
          <p:cNvPr id="4" name="Slide Number Placeholder 3"/>
          <p:cNvSpPr>
            <a:spLocks noGrp="1"/>
          </p:cNvSpPr>
          <p:nvPr>
            <p:ph type="sldNum" sz="quarter" idx="10"/>
          </p:nvPr>
        </p:nvSpPr>
        <p:spPr/>
        <p:txBody>
          <a:bodyPr/>
          <a:lstStyle/>
          <a:p>
            <a:fld id="{29631184-520B-C341-8E4E-6681085B8CA3}" type="slidenum">
              <a:rPr lang="en-US" smtClean="0"/>
              <a:t>10</a:t>
            </a:fld>
            <a:endParaRPr lang="en-US"/>
          </a:p>
        </p:txBody>
      </p:sp>
    </p:spTree>
    <p:extLst>
      <p:ext uri="{BB962C8B-B14F-4D97-AF65-F5344CB8AC3E}">
        <p14:creationId xmlns:p14="http://schemas.microsoft.com/office/powerpoint/2010/main" val="1719050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Image credit: https://</a:t>
            </a:r>
            <a:r>
              <a:rPr lang="en-US" dirty="0" err="1"/>
              <a:t>pixabay.com</a:t>
            </a:r>
            <a:r>
              <a:rPr lang="en-US" dirty="0"/>
              <a:t>/</a:t>
            </a:r>
            <a:r>
              <a:rPr lang="en-US" dirty="0" err="1"/>
              <a:t>en</a:t>
            </a:r>
            <a:r>
              <a:rPr lang="en-US" dirty="0"/>
              <a:t>/meeting-conference-people-table-152506/</a:t>
            </a:r>
          </a:p>
          <a:p>
            <a:endParaRPr lang="en-US" dirty="0"/>
          </a:p>
        </p:txBody>
      </p:sp>
      <p:sp>
        <p:nvSpPr>
          <p:cNvPr id="4" name="Slide Number Placeholder 3"/>
          <p:cNvSpPr>
            <a:spLocks noGrp="1"/>
          </p:cNvSpPr>
          <p:nvPr>
            <p:ph type="sldNum" sz="quarter" idx="10"/>
          </p:nvPr>
        </p:nvSpPr>
        <p:spPr/>
        <p:txBody>
          <a:bodyPr/>
          <a:lstStyle/>
          <a:p>
            <a:fld id="{29631184-520B-C341-8E4E-6681085B8CA3}" type="slidenum">
              <a:rPr lang="en-US" smtClean="0"/>
              <a:t>11</a:t>
            </a:fld>
            <a:endParaRPr lang="en-US"/>
          </a:p>
        </p:txBody>
      </p:sp>
    </p:spTree>
    <p:extLst>
      <p:ext uri="{BB962C8B-B14F-4D97-AF65-F5344CB8AC3E}">
        <p14:creationId xmlns:p14="http://schemas.microsoft.com/office/powerpoint/2010/main" val="18975633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US" dirty="0"/>
          </a:p>
          <a:p>
            <a:pPr marL="0" marR="0" indent="0" algn="l" defTabSz="457200" rtl="0" eaLnBrk="1" fontAlgn="auto" latinLnBrk="0" hangingPunct="1">
              <a:lnSpc>
                <a:spcPct val="100000"/>
              </a:lnSpc>
              <a:spcBef>
                <a:spcPts val="0"/>
              </a:spcBef>
              <a:spcAft>
                <a:spcPts val="0"/>
              </a:spcAft>
              <a:buClrTx/>
              <a:buSzTx/>
              <a:buFontTx/>
              <a:buNone/>
              <a:tabLst/>
              <a:defRPr/>
            </a:pPr>
            <a:r>
              <a:rPr lang="en-US" dirty="0"/>
              <a:t>Image</a:t>
            </a:r>
            <a:r>
              <a:rPr lang="en-US" baseline="0" dirty="0"/>
              <a:t> credit: https://</a:t>
            </a:r>
            <a:r>
              <a:rPr lang="en-US" baseline="0" dirty="0" err="1"/>
              <a:t>pixabay.com</a:t>
            </a:r>
            <a:r>
              <a:rPr lang="en-US" baseline="0" dirty="0"/>
              <a:t>/</a:t>
            </a:r>
            <a:r>
              <a:rPr lang="en-US" baseline="0" dirty="0" err="1"/>
              <a:t>en</a:t>
            </a:r>
            <a:r>
              <a:rPr lang="en-US" baseline="0" dirty="0"/>
              <a:t>/post-it-sticky-note-note-memo-150262/</a:t>
            </a:r>
            <a:endParaRPr lang="en-US" dirty="0"/>
          </a:p>
          <a:p>
            <a:endParaRPr lang="en-US" dirty="0"/>
          </a:p>
        </p:txBody>
      </p:sp>
      <p:sp>
        <p:nvSpPr>
          <p:cNvPr id="4" name="Slide Number Placeholder 3"/>
          <p:cNvSpPr>
            <a:spLocks noGrp="1"/>
          </p:cNvSpPr>
          <p:nvPr>
            <p:ph type="sldNum" sz="quarter" idx="10"/>
          </p:nvPr>
        </p:nvSpPr>
        <p:spPr/>
        <p:txBody>
          <a:bodyPr/>
          <a:lstStyle/>
          <a:p>
            <a:fld id="{29631184-520B-C341-8E4E-6681085B8CA3}" type="slidenum">
              <a:rPr lang="en-US" smtClean="0"/>
              <a:t>18</a:t>
            </a:fld>
            <a:endParaRPr lang="en-US"/>
          </a:p>
        </p:txBody>
      </p:sp>
    </p:spTree>
    <p:extLst>
      <p:ext uri="{BB962C8B-B14F-4D97-AF65-F5344CB8AC3E}">
        <p14:creationId xmlns:p14="http://schemas.microsoft.com/office/powerpoint/2010/main" val="1363918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Image credit: https://</a:t>
            </a:r>
            <a:r>
              <a:rPr lang="en-US" dirty="0" err="1"/>
              <a:t>pixabay.com</a:t>
            </a:r>
            <a:r>
              <a:rPr lang="en-US" dirty="0"/>
              <a:t>/</a:t>
            </a:r>
            <a:r>
              <a:rPr lang="en-US" dirty="0" err="1"/>
              <a:t>en</a:t>
            </a:r>
            <a:r>
              <a:rPr lang="en-US"/>
              <a:t>/group-team-feedback-confirming-1825509/</a:t>
            </a:r>
            <a:endParaRPr lang="en-US" dirty="0"/>
          </a:p>
        </p:txBody>
      </p:sp>
      <p:sp>
        <p:nvSpPr>
          <p:cNvPr id="4" name="Slide Number Placeholder 3"/>
          <p:cNvSpPr>
            <a:spLocks noGrp="1"/>
          </p:cNvSpPr>
          <p:nvPr>
            <p:ph type="sldNum" sz="quarter" idx="10"/>
          </p:nvPr>
        </p:nvSpPr>
        <p:spPr/>
        <p:txBody>
          <a:bodyPr/>
          <a:lstStyle/>
          <a:p>
            <a:fld id="{29631184-520B-C341-8E4E-6681085B8CA3}" type="slidenum">
              <a:rPr lang="en-US" smtClean="0"/>
              <a:t>21</a:t>
            </a:fld>
            <a:endParaRPr lang="en-US"/>
          </a:p>
        </p:txBody>
      </p:sp>
    </p:spTree>
    <p:extLst>
      <p:ext uri="{BB962C8B-B14F-4D97-AF65-F5344CB8AC3E}">
        <p14:creationId xmlns:p14="http://schemas.microsoft.com/office/powerpoint/2010/main" val="17314903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Image</a:t>
            </a:r>
            <a:r>
              <a:rPr lang="en-US" baseline="0" dirty="0"/>
              <a:t> credits: </a:t>
            </a:r>
          </a:p>
          <a:p>
            <a:r>
              <a:rPr lang="en-US" dirty="0"/>
              <a:t>https://</a:t>
            </a:r>
            <a:r>
              <a:rPr lang="en-US" dirty="0" err="1"/>
              <a:t>pixabay.com</a:t>
            </a:r>
            <a:r>
              <a:rPr lang="en-US" dirty="0"/>
              <a:t>/</a:t>
            </a:r>
            <a:r>
              <a:rPr lang="en-US" dirty="0" err="1"/>
              <a:t>en</a:t>
            </a:r>
            <a:r>
              <a:rPr lang="en-US" dirty="0"/>
              <a:t>/golden-gate-bridge-bridge-294532/</a:t>
            </a:r>
          </a:p>
        </p:txBody>
      </p:sp>
      <p:sp>
        <p:nvSpPr>
          <p:cNvPr id="4" name="Slide Number Placeholder 3"/>
          <p:cNvSpPr>
            <a:spLocks noGrp="1"/>
          </p:cNvSpPr>
          <p:nvPr>
            <p:ph type="sldNum" sz="quarter" idx="10"/>
          </p:nvPr>
        </p:nvSpPr>
        <p:spPr/>
        <p:txBody>
          <a:bodyPr/>
          <a:lstStyle/>
          <a:p>
            <a:fld id="{6439CC8F-BBCC-2249-AC6D-1A95DBF95F17}" type="slidenum">
              <a:rPr lang="en-US" smtClean="0"/>
              <a:t>23</a:t>
            </a:fld>
            <a:endParaRPr lang="en-US"/>
          </a:p>
        </p:txBody>
      </p:sp>
    </p:spTree>
    <p:extLst>
      <p:ext uri="{BB962C8B-B14F-4D97-AF65-F5344CB8AC3E}">
        <p14:creationId xmlns:p14="http://schemas.microsoft.com/office/powerpoint/2010/main" val="1582154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US" dirty="0"/>
          </a:p>
          <a:p>
            <a:endParaRPr lang="en-US" dirty="0"/>
          </a:p>
          <a:p>
            <a:endParaRPr lang="en-US" dirty="0"/>
          </a:p>
          <a:p>
            <a:r>
              <a:rPr lang="en-US" dirty="0"/>
              <a:t>Image credit: https://</a:t>
            </a:r>
            <a:r>
              <a:rPr lang="en-US" dirty="0" err="1"/>
              <a:t>pixabay.com</a:t>
            </a:r>
            <a:r>
              <a:rPr lang="en-US" dirty="0"/>
              <a:t>/</a:t>
            </a:r>
            <a:r>
              <a:rPr lang="en-US" dirty="0" err="1"/>
              <a:t>en</a:t>
            </a:r>
            <a:r>
              <a:rPr lang="en-US" dirty="0"/>
              <a:t>/chat-discussion-meeting-talk-23713/</a:t>
            </a:r>
          </a:p>
          <a:p>
            <a:endParaRPr lang="en-US" dirty="0"/>
          </a:p>
        </p:txBody>
      </p:sp>
      <p:sp>
        <p:nvSpPr>
          <p:cNvPr id="4" name="Slide Number Placeholder 3"/>
          <p:cNvSpPr>
            <a:spLocks noGrp="1"/>
          </p:cNvSpPr>
          <p:nvPr>
            <p:ph type="sldNum" sz="quarter" idx="10"/>
          </p:nvPr>
        </p:nvSpPr>
        <p:spPr/>
        <p:txBody>
          <a:bodyPr/>
          <a:lstStyle/>
          <a:p>
            <a:fld id="{29631184-520B-C341-8E4E-6681085B8CA3}" type="slidenum">
              <a:rPr lang="en-US" smtClean="0"/>
              <a:t>25</a:t>
            </a:fld>
            <a:endParaRPr lang="en-US"/>
          </a:p>
        </p:txBody>
      </p:sp>
    </p:spTree>
    <p:extLst>
      <p:ext uri="{BB962C8B-B14F-4D97-AF65-F5344CB8AC3E}">
        <p14:creationId xmlns:p14="http://schemas.microsoft.com/office/powerpoint/2010/main" val="632706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accent4"/>
                </a:solidFill>
                <a:latin typeface="Aller"/>
                <a:cs typeface="Alle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99871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4589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EA0012"/>
                </a:solidFill>
                <a:latin typeface="Aller"/>
                <a:cs typeface="Alle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695425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26573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0419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086891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8671AAD9-9163-9249-B6FA-D64EC37E89A4}" type="datetimeFigureOut">
              <a:rPr lang="en-US" smtClean="0"/>
              <a:t>4/2/24</a:t>
            </a:fld>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EFEECC35-AC64-014C-ADBC-4FA121DD470E}" type="slidenum">
              <a:rPr lang="en-US" smtClean="0"/>
              <a:t>‹#›</a:t>
            </a:fld>
            <a:endParaRPr lang="en-US"/>
          </a:p>
        </p:txBody>
      </p:sp>
    </p:spTree>
    <p:extLst>
      <p:ext uri="{BB962C8B-B14F-4D97-AF65-F5344CB8AC3E}">
        <p14:creationId xmlns:p14="http://schemas.microsoft.com/office/powerpoint/2010/main" val="4088795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62641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Tree>
    <p:extLst>
      <p:ext uri="{BB962C8B-B14F-4D97-AF65-F5344CB8AC3E}">
        <p14:creationId xmlns:p14="http://schemas.microsoft.com/office/powerpoint/2010/main" val="1265692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7945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570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RoP_logo_final.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952862" y="6126163"/>
            <a:ext cx="963581" cy="495678"/>
          </a:xfrm>
          <a:prstGeom prst="rect">
            <a:avLst/>
          </a:prstGeom>
        </p:spPr>
      </p:pic>
      <p:sp>
        <p:nvSpPr>
          <p:cNvPr id="8" name="Rectangle 7"/>
          <p:cNvSpPr/>
          <p:nvPr/>
        </p:nvSpPr>
        <p:spPr>
          <a:xfrm>
            <a:off x="201174" y="100599"/>
            <a:ext cx="8776229" cy="6601787"/>
          </a:xfrm>
          <a:prstGeom prst="rect">
            <a:avLst/>
          </a:prstGeom>
          <a:noFill/>
          <a:ln>
            <a:solidFill>
              <a:schemeClr val="accent5"/>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1680832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300" kern="1200">
          <a:solidFill>
            <a:schemeClr val="accent3"/>
          </a:solidFill>
          <a:latin typeface="Gill Sans" charset="0"/>
          <a:ea typeface="Gill Sans" charset="0"/>
          <a:cs typeface="Gill Sans" charset="0"/>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Cambria" charset="0"/>
          <a:ea typeface="Cambria" charset="0"/>
          <a:cs typeface="Cambria" charset="0"/>
        </a:defRPr>
      </a:lvl1pPr>
      <a:lvl2pPr marL="742950" indent="-285750" algn="l" defTabSz="457200" rtl="0" eaLnBrk="1" latinLnBrk="0" hangingPunct="1">
        <a:spcBef>
          <a:spcPct val="20000"/>
        </a:spcBef>
        <a:buFont typeface="Arial"/>
        <a:buChar char="–"/>
        <a:defRPr sz="2800" kern="1200">
          <a:solidFill>
            <a:schemeClr val="tx1"/>
          </a:solidFill>
          <a:latin typeface="Cambria" charset="0"/>
          <a:ea typeface="Cambria" charset="0"/>
          <a:cs typeface="Cambria" charset="0"/>
        </a:defRPr>
      </a:lvl2pPr>
      <a:lvl3pPr marL="1143000" indent="-228600" algn="l" defTabSz="457200" rtl="0" eaLnBrk="1" latinLnBrk="0" hangingPunct="1">
        <a:spcBef>
          <a:spcPct val="20000"/>
        </a:spcBef>
        <a:buFont typeface="Arial"/>
        <a:buChar char="•"/>
        <a:defRPr sz="2400" kern="1200">
          <a:solidFill>
            <a:schemeClr val="tx1"/>
          </a:solidFill>
          <a:latin typeface="Cambria" charset="0"/>
          <a:ea typeface="Cambria" charset="0"/>
          <a:cs typeface="Cambria" charset="0"/>
        </a:defRPr>
      </a:lvl3pPr>
      <a:lvl4pPr marL="1600200" indent="-228600" algn="l" defTabSz="457200" rtl="0" eaLnBrk="1" latinLnBrk="0" hangingPunct="1">
        <a:spcBef>
          <a:spcPct val="20000"/>
        </a:spcBef>
        <a:buFont typeface="Arial"/>
        <a:buChar char="–"/>
        <a:defRPr sz="2000" kern="1200">
          <a:solidFill>
            <a:schemeClr val="tx1"/>
          </a:solidFill>
          <a:latin typeface="Cambria" charset="0"/>
          <a:ea typeface="Cambria" charset="0"/>
          <a:cs typeface="Cambria" charset="0"/>
        </a:defRPr>
      </a:lvl4pPr>
      <a:lvl5pPr marL="2057400" indent="-228600" algn="l" defTabSz="457200" rtl="0" eaLnBrk="1" latinLnBrk="0" hangingPunct="1">
        <a:spcBef>
          <a:spcPct val="20000"/>
        </a:spcBef>
        <a:buFont typeface="Arial"/>
        <a:buChar char="»"/>
        <a:defRPr sz="2000" kern="1200">
          <a:solidFill>
            <a:schemeClr val="tx1"/>
          </a:solidFill>
          <a:latin typeface="Cambria" charset="0"/>
          <a:ea typeface="Cambria" charset="0"/>
          <a:cs typeface="Cambria"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667817"/>
            <a:ext cx="8559800" cy="1855017"/>
          </a:xfrm>
        </p:spPr>
        <p:txBody>
          <a:bodyPr>
            <a:noAutofit/>
          </a:bodyPr>
          <a:lstStyle/>
          <a:p>
            <a:r>
              <a:rPr lang="en-US" sz="4300" dirty="0"/>
              <a:t>Module 2: </a:t>
            </a:r>
            <a:br>
              <a:rPr lang="en-US" sz="4300" dirty="0"/>
            </a:br>
            <a:r>
              <a:rPr lang="en-US" sz="4300" dirty="0"/>
              <a:t>How People Learn</a:t>
            </a:r>
          </a:p>
        </p:txBody>
      </p:sp>
      <p:sp>
        <p:nvSpPr>
          <p:cNvPr id="3" name="Subtitle 2"/>
          <p:cNvSpPr>
            <a:spLocks noGrp="1"/>
          </p:cNvSpPr>
          <p:nvPr>
            <p:ph type="subTitle" idx="1"/>
          </p:nvPr>
        </p:nvSpPr>
        <p:spPr>
          <a:xfrm>
            <a:off x="1358900" y="3883819"/>
            <a:ext cx="6400800" cy="1752600"/>
          </a:xfrm>
        </p:spPr>
        <p:txBody>
          <a:bodyPr>
            <a:normAutofit/>
          </a:bodyPr>
          <a:lstStyle/>
          <a:p>
            <a:endParaRPr lang="en-US" dirty="0">
              <a:solidFill>
                <a:srgbClr val="FF0000"/>
              </a:solidFill>
            </a:endParaRPr>
          </a:p>
          <a:p>
            <a:r>
              <a:rPr lang="en-US">
                <a:solidFill>
                  <a:srgbClr val="FF0000"/>
                </a:solidFill>
              </a:rPr>
              <a:t>Session </a:t>
            </a:r>
            <a:r>
              <a:rPr lang="en-US" dirty="0">
                <a:solidFill>
                  <a:srgbClr val="FF0000"/>
                </a:solidFill>
              </a:rPr>
              <a:t>2</a:t>
            </a:r>
            <a:r>
              <a:rPr lang="en-US">
                <a:solidFill>
                  <a:srgbClr val="FF0000"/>
                </a:solidFill>
              </a:rPr>
              <a:t>:</a:t>
            </a:r>
            <a:endParaRPr lang="en-US" dirty="0">
              <a:solidFill>
                <a:srgbClr val="FF0000"/>
              </a:solidFill>
            </a:endParaRPr>
          </a:p>
          <a:p>
            <a:r>
              <a:rPr lang="en-US" i="1" dirty="0">
                <a:solidFill>
                  <a:srgbClr val="FF0000"/>
                </a:solidFill>
              </a:rPr>
              <a:t>Learner’s prior knowledge</a:t>
            </a:r>
          </a:p>
        </p:txBody>
      </p:sp>
      <p:sp>
        <p:nvSpPr>
          <p:cNvPr id="4" name="Subtitle 2"/>
          <p:cNvSpPr txBox="1">
            <a:spLocks/>
          </p:cNvSpPr>
          <p:nvPr/>
        </p:nvSpPr>
        <p:spPr>
          <a:xfrm>
            <a:off x="1717674" y="2232842"/>
            <a:ext cx="5708651" cy="17526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Cambria" charset="0"/>
                <a:ea typeface="Cambria" charset="0"/>
                <a:cs typeface="Cambria" charset="0"/>
              </a:defRPr>
            </a:lvl1pPr>
            <a:lvl2pPr marL="742950" indent="-285750" algn="l" defTabSz="457200" rtl="0" eaLnBrk="1" latinLnBrk="0" hangingPunct="1">
              <a:spcBef>
                <a:spcPct val="20000"/>
              </a:spcBef>
              <a:buFont typeface="Arial"/>
              <a:buChar char="–"/>
              <a:defRPr sz="2800" kern="1200">
                <a:solidFill>
                  <a:schemeClr val="tx1"/>
                </a:solidFill>
                <a:latin typeface="Cambria" charset="0"/>
                <a:ea typeface="Cambria" charset="0"/>
                <a:cs typeface="Cambria" charset="0"/>
              </a:defRPr>
            </a:lvl2pPr>
            <a:lvl3pPr marL="1143000" indent="-228600" algn="l" defTabSz="457200" rtl="0" eaLnBrk="1" latinLnBrk="0" hangingPunct="1">
              <a:spcBef>
                <a:spcPct val="20000"/>
              </a:spcBef>
              <a:buFont typeface="Arial"/>
              <a:buChar char="•"/>
              <a:defRPr sz="2400" kern="1200">
                <a:solidFill>
                  <a:schemeClr val="tx1"/>
                </a:solidFill>
                <a:latin typeface="Cambria" charset="0"/>
                <a:ea typeface="Cambria" charset="0"/>
                <a:cs typeface="Cambria" charset="0"/>
              </a:defRPr>
            </a:lvl3pPr>
            <a:lvl4pPr marL="1600200" indent="-228600" algn="l" defTabSz="457200" rtl="0" eaLnBrk="1" latinLnBrk="0" hangingPunct="1">
              <a:spcBef>
                <a:spcPct val="20000"/>
              </a:spcBef>
              <a:buFont typeface="Arial"/>
              <a:buChar char="–"/>
              <a:defRPr sz="2000" kern="1200">
                <a:solidFill>
                  <a:schemeClr val="tx1"/>
                </a:solidFill>
                <a:latin typeface="Cambria" charset="0"/>
                <a:ea typeface="Cambria" charset="0"/>
                <a:cs typeface="Cambria" charset="0"/>
              </a:defRPr>
            </a:lvl4pPr>
            <a:lvl5pPr marL="2057400" indent="-228600" algn="l" defTabSz="457200" rtl="0" eaLnBrk="1" latinLnBrk="0" hangingPunct="1">
              <a:spcBef>
                <a:spcPct val="20000"/>
              </a:spcBef>
              <a:buFont typeface="Arial"/>
              <a:buChar char="»"/>
              <a:defRPr sz="2000" kern="1200">
                <a:solidFill>
                  <a:schemeClr val="tx1"/>
                </a:solidFill>
                <a:latin typeface="Cambria" charset="0"/>
                <a:ea typeface="Cambria" charset="0"/>
                <a:cs typeface="Cambria"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sz="1600"/>
              <a:t>A professional learning program for informal science educators</a:t>
            </a:r>
            <a:endParaRPr lang="en-US" sz="16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2423" y="518802"/>
            <a:ext cx="3517901" cy="1709349"/>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5535" y="5840459"/>
            <a:ext cx="1032927" cy="834979"/>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400" y="6072188"/>
            <a:ext cx="584200" cy="584200"/>
          </a:xfrm>
          <a:prstGeom prst="rect">
            <a:avLst/>
          </a:prstGeom>
        </p:spPr>
      </p:pic>
    </p:spTree>
    <p:extLst>
      <p:ext uri="{BB962C8B-B14F-4D97-AF65-F5344CB8AC3E}">
        <p14:creationId xmlns:p14="http://schemas.microsoft.com/office/powerpoint/2010/main" val="8711886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461" y="168801"/>
            <a:ext cx="7184660" cy="7106078"/>
          </a:xfrm>
          <a:prstGeom prst="rect">
            <a:avLst/>
          </a:prstGeom>
        </p:spPr>
      </p:pic>
      <p:sp>
        <p:nvSpPr>
          <p:cNvPr id="2" name="Title 1"/>
          <p:cNvSpPr>
            <a:spLocks noGrp="1"/>
          </p:cNvSpPr>
          <p:nvPr>
            <p:ph type="title"/>
          </p:nvPr>
        </p:nvSpPr>
        <p:spPr>
          <a:xfrm>
            <a:off x="577121" y="1217342"/>
            <a:ext cx="5613817" cy="976515"/>
          </a:xfrm>
        </p:spPr>
        <p:txBody>
          <a:bodyPr>
            <a:normAutofit/>
          </a:bodyPr>
          <a:lstStyle/>
          <a:p>
            <a:r>
              <a:rPr lang="en-US" sz="4000" dirty="0"/>
              <a:t>How People Learn</a:t>
            </a:r>
            <a:endParaRPr lang="en-US" sz="4000" i="1" dirty="0"/>
          </a:p>
        </p:txBody>
      </p:sp>
      <p:sp>
        <p:nvSpPr>
          <p:cNvPr id="3" name="Content Placeholder 2"/>
          <p:cNvSpPr>
            <a:spLocks noGrp="1"/>
          </p:cNvSpPr>
          <p:nvPr>
            <p:ph idx="1"/>
          </p:nvPr>
        </p:nvSpPr>
        <p:spPr>
          <a:xfrm>
            <a:off x="577121" y="2193857"/>
            <a:ext cx="5373974" cy="4042051"/>
          </a:xfrm>
        </p:spPr>
        <p:txBody>
          <a:bodyPr>
            <a:noAutofit/>
          </a:bodyPr>
          <a:lstStyle/>
          <a:p>
            <a:r>
              <a:rPr lang="en-US" sz="2400" dirty="0">
                <a:solidFill>
                  <a:srgbClr val="000000"/>
                </a:solidFill>
              </a:rPr>
              <a:t>Learning is </a:t>
            </a:r>
            <a:r>
              <a:rPr lang="en-US" sz="2400" u="sng" dirty="0">
                <a:solidFill>
                  <a:srgbClr val="000000"/>
                </a:solidFill>
              </a:rPr>
              <a:t>making connections</a:t>
            </a:r>
            <a:r>
              <a:rPr lang="en-US" sz="2400" dirty="0">
                <a:solidFill>
                  <a:srgbClr val="000000"/>
                </a:solidFill>
              </a:rPr>
              <a:t> between past and new experiences, knowledge, skills, beliefs, etc., and building mental models to organize and understand.</a:t>
            </a:r>
          </a:p>
          <a:p>
            <a:r>
              <a:rPr lang="en-US" sz="2400" dirty="0">
                <a:solidFill>
                  <a:srgbClr val="000000"/>
                </a:solidFill>
              </a:rPr>
              <a:t>The opportunity to talk with others is critical for learning.</a:t>
            </a:r>
          </a:p>
          <a:p>
            <a:r>
              <a:rPr lang="en-US" sz="2400" dirty="0">
                <a:solidFill>
                  <a:srgbClr val="000000"/>
                </a:solidFill>
              </a:rPr>
              <a:t>Learners build their knowledge through interactions, conversations, and experiences.</a:t>
            </a:r>
          </a:p>
        </p:txBody>
      </p:sp>
    </p:spTree>
    <p:extLst>
      <p:ext uri="{BB962C8B-B14F-4D97-AF65-F5344CB8AC3E}">
        <p14:creationId xmlns:p14="http://schemas.microsoft.com/office/powerpoint/2010/main" val="2592051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Module 2. Session 2</a:t>
            </a:r>
            <a:br>
              <a:rPr lang="en-US" dirty="0"/>
            </a:br>
            <a:r>
              <a:rPr lang="en-US" sz="4000" i="1" dirty="0"/>
              <a:t>Learners’ Prior Knowledge</a:t>
            </a:r>
          </a:p>
        </p:txBody>
      </p:sp>
      <p:sp>
        <p:nvSpPr>
          <p:cNvPr id="3" name="Content Placeholder 2"/>
          <p:cNvSpPr>
            <a:spLocks noGrp="1"/>
          </p:cNvSpPr>
          <p:nvPr>
            <p:ph idx="1"/>
          </p:nvPr>
        </p:nvSpPr>
        <p:spPr>
          <a:xfrm>
            <a:off x="457200" y="1749591"/>
            <a:ext cx="8229600" cy="4750931"/>
          </a:xfrm>
        </p:spPr>
        <p:txBody>
          <a:bodyPr>
            <a:normAutofit/>
          </a:bodyPr>
          <a:lstStyle/>
          <a:p>
            <a:pPr marL="0" indent="0">
              <a:buNone/>
            </a:pPr>
            <a:r>
              <a:rPr lang="en-US" sz="2800" b="1" dirty="0">
                <a:solidFill>
                  <a:srgbClr val="000000"/>
                </a:solidFill>
              </a:rPr>
              <a:t>Session objectives</a:t>
            </a:r>
            <a:r>
              <a:rPr lang="en-US" sz="2800" dirty="0">
                <a:solidFill>
                  <a:srgbClr val="000000"/>
                </a:solidFill>
              </a:rPr>
              <a:t>:</a:t>
            </a:r>
          </a:p>
          <a:p>
            <a:pPr marL="457200" indent="-457200">
              <a:buFont typeface="+mj-lt"/>
              <a:buAutoNum type="alphaLcPeriod"/>
            </a:pPr>
            <a:r>
              <a:rPr lang="en-US" sz="2400" dirty="0">
                <a:solidFill>
                  <a:srgbClr val="000000"/>
                </a:solidFill>
              </a:rPr>
              <a:t>Discuss the role of prior knowledge in learning.</a:t>
            </a:r>
          </a:p>
          <a:p>
            <a:pPr marL="457200" indent="-457200">
              <a:buFont typeface="+mj-lt"/>
              <a:buAutoNum type="alphaLcPeriod"/>
            </a:pPr>
            <a:r>
              <a:rPr lang="en-US" sz="2400" dirty="0">
                <a:solidFill>
                  <a:srgbClr val="000000"/>
                </a:solidFill>
              </a:rPr>
              <a:t>Engage in a learning experience and reflect on how prior knowledge influenced that experience.</a:t>
            </a:r>
          </a:p>
          <a:p>
            <a:pPr marL="457200" indent="-457200">
              <a:buFont typeface="+mj-lt"/>
              <a:buAutoNum type="alphaLcPeriod"/>
            </a:pPr>
            <a:r>
              <a:rPr lang="en-US" sz="2400" dirty="0">
                <a:solidFill>
                  <a:srgbClr val="000000"/>
                </a:solidFill>
              </a:rPr>
              <a:t>Discuss the major research perspectives regarding prior knowledge and conceptual change.</a:t>
            </a:r>
          </a:p>
          <a:p>
            <a:pPr marL="457200" indent="-457200">
              <a:buFont typeface="+mj-lt"/>
              <a:buAutoNum type="alphaLcPeriod"/>
            </a:pPr>
            <a:r>
              <a:rPr lang="en-US" sz="2400" dirty="0">
                <a:solidFill>
                  <a:srgbClr val="000000"/>
                </a:solidFill>
              </a:rPr>
              <a:t>Determine how educators in informal settings can activate and connect to learners’ prior knowledge in their practice, given the unique and diverse nature of their interactions.</a:t>
            </a:r>
          </a:p>
        </p:txBody>
      </p:sp>
    </p:spTree>
    <p:extLst>
      <p:ext uri="{BB962C8B-B14F-4D97-AF65-F5344CB8AC3E}">
        <p14:creationId xmlns:p14="http://schemas.microsoft.com/office/powerpoint/2010/main" val="3529226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607" y="164892"/>
            <a:ext cx="7274422" cy="7194858"/>
          </a:xfrm>
          <a:prstGeom prst="rect">
            <a:avLst/>
          </a:prstGeom>
        </p:spPr>
      </p:pic>
      <p:sp>
        <p:nvSpPr>
          <p:cNvPr id="2" name="Title 1"/>
          <p:cNvSpPr>
            <a:spLocks noGrp="1"/>
          </p:cNvSpPr>
          <p:nvPr>
            <p:ph type="title"/>
          </p:nvPr>
        </p:nvSpPr>
        <p:spPr>
          <a:xfrm>
            <a:off x="652078" y="1179828"/>
            <a:ext cx="5658788" cy="1143000"/>
          </a:xfrm>
        </p:spPr>
        <p:txBody>
          <a:bodyPr>
            <a:normAutofit fontScale="90000"/>
          </a:bodyPr>
          <a:lstStyle/>
          <a:p>
            <a:r>
              <a:rPr lang="en-US" sz="4000"/>
              <a:t>Learners</a:t>
            </a:r>
            <a:r>
              <a:rPr lang="en-US" sz="4000" dirty="0"/>
              <a:t>’ Prior Knowledge</a:t>
            </a:r>
          </a:p>
        </p:txBody>
      </p:sp>
      <p:sp>
        <p:nvSpPr>
          <p:cNvPr id="3" name="Content Placeholder 2"/>
          <p:cNvSpPr>
            <a:spLocks noGrp="1"/>
          </p:cNvSpPr>
          <p:nvPr>
            <p:ph idx="1"/>
          </p:nvPr>
        </p:nvSpPr>
        <p:spPr>
          <a:xfrm>
            <a:off x="652078" y="2323475"/>
            <a:ext cx="5658787" cy="3817678"/>
          </a:xfrm>
        </p:spPr>
        <p:txBody>
          <a:bodyPr>
            <a:normAutofit fontScale="85000" lnSpcReduction="10000"/>
          </a:bodyPr>
          <a:lstStyle/>
          <a:p>
            <a:r>
              <a:rPr lang="en-US" sz="2800" dirty="0">
                <a:solidFill>
                  <a:schemeClr val="tx1"/>
                </a:solidFill>
              </a:rPr>
              <a:t>Prior knowledge exists not only at the level of “concepts,” but also at the levels of perception, focus of attention, procedural skills, modes of reasoning, and beliefs about knowledge.</a:t>
            </a:r>
          </a:p>
          <a:p>
            <a:r>
              <a:rPr lang="en-US" sz="2800" dirty="0">
                <a:solidFill>
                  <a:schemeClr val="tx1"/>
                </a:solidFill>
              </a:rPr>
              <a:t>Learners’ prior ideas, their “common sense,” and “everyday thinking” are intelligent and useful for them. If those ideas aren’t engaged when we teach, learners often dismiss the ideas from the learning experience as irrelevant.</a:t>
            </a:r>
          </a:p>
        </p:txBody>
      </p:sp>
    </p:spTree>
    <p:extLst>
      <p:ext uri="{BB962C8B-B14F-4D97-AF65-F5344CB8AC3E}">
        <p14:creationId xmlns:p14="http://schemas.microsoft.com/office/powerpoint/2010/main" val="1296576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Think Pair Share</a:t>
            </a:r>
            <a:br>
              <a:rPr lang="en-US" dirty="0"/>
            </a:br>
            <a:r>
              <a:rPr lang="en-US" sz="4000" dirty="0"/>
              <a:t>Learners’ Prior Knowledge</a:t>
            </a:r>
          </a:p>
        </p:txBody>
      </p:sp>
      <p:sp>
        <p:nvSpPr>
          <p:cNvPr id="3" name="Content Placeholder 2"/>
          <p:cNvSpPr>
            <a:spLocks noGrp="1"/>
          </p:cNvSpPr>
          <p:nvPr>
            <p:ph idx="1"/>
          </p:nvPr>
        </p:nvSpPr>
        <p:spPr>
          <a:xfrm>
            <a:off x="2235200" y="2051335"/>
            <a:ext cx="6451600" cy="4270248"/>
          </a:xfrm>
        </p:spPr>
        <p:txBody>
          <a:bodyPr>
            <a:normAutofit/>
          </a:bodyPr>
          <a:lstStyle/>
          <a:p>
            <a:r>
              <a:rPr lang="en-US" dirty="0">
                <a:solidFill>
                  <a:schemeClr val="tx1"/>
                </a:solidFill>
                <a:latin typeface="Minion Pro"/>
                <a:cs typeface="Minion Pro"/>
              </a:rPr>
              <a:t>What are your purposes for activating learners’ prior knowledge?</a:t>
            </a:r>
          </a:p>
          <a:p>
            <a:r>
              <a:rPr lang="en-US" dirty="0">
                <a:solidFill>
                  <a:schemeClr val="tx1"/>
                </a:solidFill>
                <a:latin typeface="Minion Pro"/>
                <a:cs typeface="Minion Pro"/>
              </a:rPr>
              <a:t>What are your assumptions about learners’ knowledge based on this information?</a:t>
            </a:r>
          </a:p>
          <a:p>
            <a:r>
              <a:rPr lang="en-US" dirty="0">
                <a:solidFill>
                  <a:schemeClr val="tx1"/>
                </a:solidFill>
                <a:latin typeface="Minion Pro"/>
                <a:cs typeface="Minion Pro"/>
              </a:rPr>
              <a:t>What do you do with this information?</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990375"/>
            <a:ext cx="1712976" cy="4270248"/>
          </a:xfrm>
          <a:prstGeom prst="rect">
            <a:avLst/>
          </a:prstGeom>
        </p:spPr>
      </p:pic>
    </p:spTree>
    <p:extLst>
      <p:ext uri="{BB962C8B-B14F-4D97-AF65-F5344CB8AC3E}">
        <p14:creationId xmlns:p14="http://schemas.microsoft.com/office/powerpoint/2010/main" val="3654819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8200" y="477838"/>
            <a:ext cx="4231640" cy="1127442"/>
          </a:xfrm>
        </p:spPr>
        <p:txBody>
          <a:bodyPr>
            <a:normAutofit fontScale="90000"/>
          </a:bodyPr>
          <a:lstStyle/>
          <a:p>
            <a:r>
              <a:rPr lang="en-US" dirty="0"/>
              <a:t>Hands-on</a:t>
            </a:r>
            <a:br>
              <a:rPr lang="en-US" dirty="0"/>
            </a:br>
            <a:r>
              <a:rPr lang="en-US" sz="4000" dirty="0"/>
              <a:t>Ice Cubes Investigation</a:t>
            </a:r>
          </a:p>
        </p:txBody>
      </p:sp>
      <p:pic>
        <p:nvPicPr>
          <p:cNvPr id="7" name="Content Placeholder 6"/>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276965" y="173038"/>
            <a:ext cx="4314401" cy="6471602"/>
          </a:xfrm>
        </p:spPr>
      </p:pic>
      <p:sp>
        <p:nvSpPr>
          <p:cNvPr id="9" name="Content Placeholder 8"/>
          <p:cNvSpPr>
            <a:spLocks noGrp="1"/>
          </p:cNvSpPr>
          <p:nvPr>
            <p:ph sz="half" idx="2"/>
          </p:nvPr>
        </p:nvSpPr>
        <p:spPr>
          <a:xfrm>
            <a:off x="4856480" y="2275840"/>
            <a:ext cx="3820160" cy="4368800"/>
          </a:xfrm>
        </p:spPr>
        <p:txBody>
          <a:bodyPr/>
          <a:lstStyle/>
          <a:p>
            <a:pPr marL="0" indent="0" algn="ctr">
              <a:buNone/>
            </a:pPr>
            <a:r>
              <a:rPr lang="en-US" i="1" dirty="0"/>
              <a:t>Will ice cubes melt faster in fresh water or salt water?</a:t>
            </a:r>
          </a:p>
          <a:p>
            <a:pPr marL="457200" indent="-457200">
              <a:buFont typeface="Arial" charset="0"/>
              <a:buChar char="•"/>
            </a:pPr>
            <a:endParaRPr lang="en-US" sz="2400" dirty="0"/>
          </a:p>
          <a:p>
            <a:pPr marL="457200" indent="-457200">
              <a:buFont typeface="Arial" charset="0"/>
              <a:buChar char="•"/>
            </a:pPr>
            <a:r>
              <a:rPr lang="en-US" sz="2400" dirty="0"/>
              <a:t>Think about the experiment.</a:t>
            </a:r>
          </a:p>
          <a:p>
            <a:pPr marL="457200" indent="-457200">
              <a:buFont typeface="Arial" charset="0"/>
              <a:buChar char="•"/>
            </a:pPr>
            <a:r>
              <a:rPr lang="en-US" sz="2400" dirty="0"/>
              <a:t>Write your prediction, include a rationale for why you think that.</a:t>
            </a:r>
          </a:p>
        </p:txBody>
      </p:sp>
    </p:spTree>
    <p:extLst>
      <p:ext uri="{BB962C8B-B14F-4D97-AF65-F5344CB8AC3E}">
        <p14:creationId xmlns:p14="http://schemas.microsoft.com/office/powerpoint/2010/main" val="3423454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4247" y="145227"/>
            <a:ext cx="8670771" cy="1143000"/>
          </a:xfrm>
        </p:spPr>
        <p:txBody>
          <a:bodyPr>
            <a:normAutofit/>
          </a:bodyPr>
          <a:lstStyle/>
          <a:p>
            <a:r>
              <a:rPr lang="en-US" sz="4300"/>
              <a:t>Instructions</a:t>
            </a:r>
            <a:endParaRPr lang="en-US" sz="4300" dirty="0"/>
          </a:p>
        </p:txBody>
      </p:sp>
      <p:sp>
        <p:nvSpPr>
          <p:cNvPr id="3" name="Content Placeholder 2"/>
          <p:cNvSpPr>
            <a:spLocks noGrp="1"/>
          </p:cNvSpPr>
          <p:nvPr>
            <p:ph idx="1"/>
          </p:nvPr>
        </p:nvSpPr>
        <p:spPr>
          <a:xfrm>
            <a:off x="467360" y="1341120"/>
            <a:ext cx="8249920" cy="5116782"/>
          </a:xfrm>
        </p:spPr>
        <p:txBody>
          <a:bodyPr>
            <a:noAutofit/>
          </a:bodyPr>
          <a:lstStyle/>
          <a:p>
            <a:pPr marL="514350" indent="-514350">
              <a:buFont typeface="+mj-lt"/>
              <a:buAutoNum type="arabicPeriod"/>
            </a:pPr>
            <a:r>
              <a:rPr lang="en-US" sz="2800" dirty="0"/>
              <a:t>Divide the ice cubes evenly between the two cups of water—and then be sure NOT to disturb or stir the cups.</a:t>
            </a:r>
          </a:p>
          <a:p>
            <a:pPr marL="514350" indent="-514350">
              <a:buFont typeface="+mj-lt"/>
              <a:buAutoNum type="arabicPeriod"/>
            </a:pPr>
            <a:r>
              <a:rPr lang="en-US" sz="2800" dirty="0"/>
              <a:t>Your task is to do the investigation as a small group and come up with an explanation for what you observe.</a:t>
            </a:r>
          </a:p>
          <a:p>
            <a:pPr marL="514350" indent="-514350">
              <a:buFont typeface="+mj-lt"/>
              <a:buAutoNum type="arabicPeriod"/>
            </a:pPr>
            <a:r>
              <a:rPr lang="en-US" sz="2800" dirty="0"/>
              <a:t>Continue to discuss your predictions and rationale as you make careful observations of the cups and melting ice.</a:t>
            </a:r>
          </a:p>
          <a:p>
            <a:pPr marL="514350" indent="-514350">
              <a:buFont typeface="+mj-lt"/>
              <a:buAutoNum type="arabicPeriod"/>
            </a:pPr>
            <a:r>
              <a:rPr lang="en-US" sz="2800" dirty="0"/>
              <a:t>You have about 10 minutes for this part of the activity.</a:t>
            </a:r>
          </a:p>
        </p:txBody>
      </p:sp>
    </p:spTree>
    <p:extLst>
      <p:ext uri="{BB962C8B-B14F-4D97-AF65-F5344CB8AC3E}">
        <p14:creationId xmlns:p14="http://schemas.microsoft.com/office/powerpoint/2010/main" val="2884910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1855" b="3658"/>
          <a:stretch/>
        </p:blipFill>
        <p:spPr>
          <a:xfrm rot="16200000">
            <a:off x="1150497" y="-1150495"/>
            <a:ext cx="6858000" cy="9158990"/>
          </a:xfrm>
          <a:prstGeom prst="rect">
            <a:avLst/>
          </a:prstGeom>
        </p:spPr>
      </p:pic>
      <p:sp>
        <p:nvSpPr>
          <p:cNvPr id="2" name="Title 1"/>
          <p:cNvSpPr>
            <a:spLocks noGrp="1"/>
          </p:cNvSpPr>
          <p:nvPr>
            <p:ph type="title"/>
          </p:nvPr>
        </p:nvSpPr>
        <p:spPr>
          <a:xfrm>
            <a:off x="464696" y="1375344"/>
            <a:ext cx="8229600" cy="1143000"/>
          </a:xfrm>
        </p:spPr>
        <p:txBody>
          <a:bodyPr>
            <a:normAutofit/>
          </a:bodyPr>
          <a:lstStyle/>
          <a:p>
            <a:r>
              <a:rPr lang="en-US" sz="4300" dirty="0"/>
              <a:t>Gather more evidence</a:t>
            </a:r>
          </a:p>
        </p:txBody>
      </p:sp>
      <p:sp>
        <p:nvSpPr>
          <p:cNvPr id="3" name="Content Placeholder 2"/>
          <p:cNvSpPr>
            <a:spLocks noGrp="1"/>
          </p:cNvSpPr>
          <p:nvPr>
            <p:ph idx="1"/>
          </p:nvPr>
        </p:nvSpPr>
        <p:spPr>
          <a:xfrm>
            <a:off x="1469036" y="2353456"/>
            <a:ext cx="6415791" cy="3387776"/>
          </a:xfrm>
        </p:spPr>
        <p:txBody>
          <a:bodyPr>
            <a:normAutofit/>
          </a:bodyPr>
          <a:lstStyle/>
          <a:p>
            <a:r>
              <a:rPr lang="en-US" sz="2400" dirty="0"/>
              <a:t>How do these new observations with the food coloring help point to the cause for why ice cubes melted faster in fresh water?</a:t>
            </a:r>
          </a:p>
          <a:p>
            <a:r>
              <a:rPr lang="en-US" sz="2400" dirty="0"/>
              <a:t>What is the relationship between the results and your prior knowledge? What knowledge, ideas, assumptions, and experiences did you draw on during the investigation?</a:t>
            </a:r>
          </a:p>
        </p:txBody>
      </p:sp>
    </p:spTree>
    <p:extLst>
      <p:ext uri="{BB962C8B-B14F-4D97-AF65-F5344CB8AC3E}">
        <p14:creationId xmlns:p14="http://schemas.microsoft.com/office/powerpoint/2010/main" val="223446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5278"/>
            <a:ext cx="3992880" cy="1899602"/>
          </a:xfrm>
        </p:spPr>
        <p:txBody>
          <a:bodyPr>
            <a:normAutofit fontScale="90000"/>
          </a:bodyPr>
          <a:lstStyle/>
          <a:p>
            <a:r>
              <a:rPr lang="en-US" dirty="0"/>
              <a:t>Whole-Community Discussion</a:t>
            </a:r>
            <a:endParaRPr lang="en-US" sz="4000" dirty="0"/>
          </a:p>
        </p:txBody>
      </p:sp>
      <p:sp>
        <p:nvSpPr>
          <p:cNvPr id="3" name="Content Placeholder 2"/>
          <p:cNvSpPr>
            <a:spLocks noGrp="1"/>
          </p:cNvSpPr>
          <p:nvPr>
            <p:ph idx="1"/>
          </p:nvPr>
        </p:nvSpPr>
        <p:spPr>
          <a:xfrm>
            <a:off x="264160" y="2621280"/>
            <a:ext cx="4185920" cy="4023360"/>
          </a:xfrm>
        </p:spPr>
        <p:txBody>
          <a:bodyPr/>
          <a:lstStyle/>
          <a:p>
            <a:r>
              <a:rPr lang="en-US" dirty="0"/>
              <a:t>Which ice cubes melted the fastest?</a:t>
            </a:r>
          </a:p>
          <a:p>
            <a:r>
              <a:rPr lang="en-US" dirty="0"/>
              <a:t>Why do you think that was happening?</a:t>
            </a:r>
          </a:p>
          <a:p>
            <a:endParaRPr lang="en-US" dirty="0"/>
          </a:p>
        </p:txBody>
      </p:sp>
      <p:pic>
        <p:nvPicPr>
          <p:cNvPr id="4"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12640" y="173038"/>
            <a:ext cx="4314401" cy="6471602"/>
          </a:xfrm>
          <a:prstGeom prst="rect">
            <a:avLst/>
          </a:prstGeom>
        </p:spPr>
      </p:pic>
    </p:spTree>
    <p:extLst>
      <p:ext uri="{BB962C8B-B14F-4D97-AF65-F5344CB8AC3E}">
        <p14:creationId xmlns:p14="http://schemas.microsoft.com/office/powerpoint/2010/main" val="676637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5598"/>
            <a:ext cx="8229600" cy="1143000"/>
          </a:xfrm>
        </p:spPr>
        <p:txBody>
          <a:bodyPr>
            <a:noAutofit/>
          </a:bodyPr>
          <a:lstStyle/>
          <a:p>
            <a:r>
              <a:rPr lang="en-US" sz="4300" dirty="0"/>
              <a:t>Turn &amp; Talk</a:t>
            </a:r>
            <a:br>
              <a:rPr lang="en-US" sz="4000" dirty="0"/>
            </a:br>
            <a:r>
              <a:rPr lang="en-US" sz="3600" dirty="0"/>
              <a:t>Ice Cubes Investigation</a:t>
            </a:r>
          </a:p>
        </p:txBody>
      </p:sp>
      <p:sp>
        <p:nvSpPr>
          <p:cNvPr id="3" name="Content Placeholder 2"/>
          <p:cNvSpPr>
            <a:spLocks noGrp="1"/>
          </p:cNvSpPr>
          <p:nvPr>
            <p:ph idx="1"/>
          </p:nvPr>
        </p:nvSpPr>
        <p:spPr>
          <a:xfrm>
            <a:off x="457200" y="2270291"/>
            <a:ext cx="4582160" cy="3404394"/>
          </a:xfrm>
        </p:spPr>
        <p:txBody>
          <a:bodyPr anchor="ctr">
            <a:normAutofit/>
          </a:bodyPr>
          <a:lstStyle/>
          <a:p>
            <a:pPr marL="0" indent="0">
              <a:buNone/>
            </a:pPr>
            <a:r>
              <a:rPr lang="en-US" dirty="0">
                <a:solidFill>
                  <a:srgbClr val="000000"/>
                </a:solidFill>
              </a:rPr>
              <a:t>What is your explanation </a:t>
            </a:r>
            <a:r>
              <a:rPr lang="en-US" u="sng" dirty="0">
                <a:solidFill>
                  <a:srgbClr val="000000"/>
                </a:solidFill>
              </a:rPr>
              <a:t>now</a:t>
            </a:r>
            <a:r>
              <a:rPr lang="en-US" dirty="0">
                <a:solidFill>
                  <a:srgbClr val="000000"/>
                </a:solidFill>
              </a:rPr>
              <a:t> for why the ice cubes melted faster in the fresh water?</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2406" y="2270290"/>
            <a:ext cx="3404394" cy="3404394"/>
          </a:xfrm>
          <a:prstGeom prst="rect">
            <a:avLst/>
          </a:prstGeom>
        </p:spPr>
      </p:pic>
    </p:spTree>
    <p:extLst>
      <p:ext uri="{BB962C8B-B14F-4D97-AF65-F5344CB8AC3E}">
        <p14:creationId xmlns:p14="http://schemas.microsoft.com/office/powerpoint/2010/main" val="2245329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90"/>
                </a:solidFill>
              </a:rPr>
              <a:t>Table Talk</a:t>
            </a:r>
            <a:br>
              <a:rPr lang="en-US" dirty="0">
                <a:solidFill>
                  <a:srgbClr val="000090"/>
                </a:solidFill>
              </a:rPr>
            </a:br>
            <a:r>
              <a:rPr lang="en-US" sz="4000" dirty="0">
                <a:solidFill>
                  <a:srgbClr val="000090"/>
                </a:solidFill>
              </a:rPr>
              <a:t>Hands-on Debrief</a:t>
            </a:r>
            <a:endParaRPr lang="en-US" sz="3600" dirty="0">
              <a:solidFill>
                <a:srgbClr val="000090"/>
              </a:solidFill>
            </a:endParaRPr>
          </a:p>
        </p:txBody>
      </p:sp>
      <p:sp>
        <p:nvSpPr>
          <p:cNvPr id="3" name="Content Placeholder 2"/>
          <p:cNvSpPr>
            <a:spLocks noGrp="1"/>
          </p:cNvSpPr>
          <p:nvPr>
            <p:ph idx="1"/>
          </p:nvPr>
        </p:nvSpPr>
        <p:spPr>
          <a:xfrm>
            <a:off x="439397" y="1750922"/>
            <a:ext cx="4965723" cy="1890347"/>
          </a:xfrm>
        </p:spPr>
        <p:txBody>
          <a:bodyPr>
            <a:noAutofit/>
          </a:bodyPr>
          <a:lstStyle/>
          <a:p>
            <a:pPr marL="0" indent="0">
              <a:buNone/>
            </a:pPr>
            <a:r>
              <a:rPr lang="en-US" sz="2400" dirty="0">
                <a:solidFill>
                  <a:srgbClr val="000000"/>
                </a:solidFill>
              </a:rPr>
              <a:t>What ideas did you discuss at your table while you made predictions and explanations about which ice cubes would melt fastest?</a:t>
            </a:r>
          </a:p>
        </p:txBody>
      </p:sp>
      <p:sp>
        <p:nvSpPr>
          <p:cNvPr id="7" name="TextBox 6"/>
          <p:cNvSpPr txBox="1"/>
          <p:nvPr/>
        </p:nvSpPr>
        <p:spPr>
          <a:xfrm>
            <a:off x="6420075" y="3049659"/>
            <a:ext cx="2284527" cy="2308324"/>
          </a:xfrm>
          <a:prstGeom prst="rect">
            <a:avLst/>
          </a:prstGeom>
          <a:noFill/>
        </p:spPr>
        <p:txBody>
          <a:bodyPr wrap="square" rtlCol="0">
            <a:spAutoFit/>
          </a:bodyPr>
          <a:lstStyle/>
          <a:p>
            <a:pPr algn="r"/>
            <a:r>
              <a:rPr lang="en-US" sz="2400" dirty="0">
                <a:solidFill>
                  <a:srgbClr val="000000"/>
                </a:solidFill>
                <a:latin typeface="Cambria" charset="0"/>
                <a:ea typeface="Cambria" charset="0"/>
                <a:cs typeface="Cambria" charset="0"/>
              </a:rPr>
              <a:t>What prior knowledge were you accessing to make your prediction?</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3031" y="3385725"/>
            <a:ext cx="4057937" cy="3007180"/>
          </a:xfrm>
          <a:prstGeom prst="rect">
            <a:avLst/>
          </a:prstGeom>
        </p:spPr>
      </p:pic>
    </p:spTree>
    <p:extLst>
      <p:ext uri="{BB962C8B-B14F-4D97-AF65-F5344CB8AC3E}">
        <p14:creationId xmlns:p14="http://schemas.microsoft.com/office/powerpoint/2010/main" val="976811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Ice Cubes Explanations: Prediction</a:t>
            </a:r>
            <a:endParaRPr lang="en-US" sz="4000" dirty="0"/>
          </a:p>
        </p:txBody>
      </p:sp>
      <p:sp>
        <p:nvSpPr>
          <p:cNvPr id="3" name="Content Placeholder 2"/>
          <p:cNvSpPr>
            <a:spLocks noGrp="1"/>
          </p:cNvSpPr>
          <p:nvPr>
            <p:ph idx="1"/>
          </p:nvPr>
        </p:nvSpPr>
        <p:spPr>
          <a:ln>
            <a:noFill/>
          </a:ln>
        </p:spPr>
        <p:txBody>
          <a:bodyPr>
            <a:noAutofit/>
          </a:bodyPr>
          <a:lstStyle/>
          <a:p>
            <a:pPr marL="0" indent="0">
              <a:buNone/>
            </a:pPr>
            <a:r>
              <a:rPr lang="en-US" sz="2800" dirty="0">
                <a:solidFill>
                  <a:srgbClr val="000000"/>
                </a:solidFill>
              </a:rPr>
              <a:t>I predict the ice will melt </a:t>
            </a:r>
            <a:r>
              <a:rPr lang="en-US" sz="2800" dirty="0">
                <a:solidFill>
                  <a:srgbClr val="FF0000"/>
                </a:solidFill>
              </a:rPr>
              <a:t>faster in salt water</a:t>
            </a:r>
            <a:r>
              <a:rPr lang="en-US" sz="2800" dirty="0"/>
              <a:t> </a:t>
            </a:r>
            <a:r>
              <a:rPr lang="en-US" sz="2800" dirty="0">
                <a:solidFill>
                  <a:schemeClr val="tx1"/>
                </a:solidFill>
              </a:rPr>
              <a:t>because:</a:t>
            </a:r>
          </a:p>
          <a:p>
            <a:pPr marL="514350" indent="-514350">
              <a:buFont typeface="+mj-lt"/>
              <a:buAutoNum type="arabicPeriod"/>
            </a:pPr>
            <a:r>
              <a:rPr lang="en-US" sz="2400" dirty="0">
                <a:solidFill>
                  <a:schemeClr val="tx1"/>
                </a:solidFill>
              </a:rPr>
              <a:t>Salt causes ice on roads to melt.</a:t>
            </a:r>
          </a:p>
          <a:p>
            <a:pPr marL="514350" indent="-514350">
              <a:buFont typeface="+mj-lt"/>
              <a:buAutoNum type="arabicPeriod"/>
            </a:pPr>
            <a:r>
              <a:rPr lang="en-US" sz="2400" dirty="0">
                <a:solidFill>
                  <a:schemeClr val="tx1"/>
                </a:solidFill>
              </a:rPr>
              <a:t>Salt affects the freezing point of water.</a:t>
            </a:r>
          </a:p>
          <a:p>
            <a:pPr marL="514350" indent="-514350">
              <a:buFont typeface="+mj-lt"/>
              <a:buAutoNum type="arabicPeriod"/>
            </a:pPr>
            <a:r>
              <a:rPr lang="en-US" sz="2400" dirty="0">
                <a:solidFill>
                  <a:schemeClr val="tx1"/>
                </a:solidFill>
              </a:rPr>
              <a:t>There are differences in the specific heat capacity of salt water and fresh water.</a:t>
            </a:r>
          </a:p>
          <a:p>
            <a:pPr marL="514350" indent="-514350">
              <a:buFont typeface="+mj-lt"/>
              <a:buAutoNum type="arabicPeriod"/>
            </a:pPr>
            <a:r>
              <a:rPr lang="en-US" sz="2400" dirty="0">
                <a:solidFill>
                  <a:schemeClr val="tx1"/>
                </a:solidFill>
              </a:rPr>
              <a:t>The salt water has dissolved </a:t>
            </a:r>
            <a:r>
              <a:rPr lang="en-US" sz="2400" dirty="0" err="1">
                <a:solidFill>
                  <a:schemeClr val="tx1"/>
                </a:solidFill>
              </a:rPr>
              <a:t>NaCl</a:t>
            </a:r>
            <a:r>
              <a:rPr lang="en-US" sz="2400" dirty="0">
                <a:solidFill>
                  <a:schemeClr val="tx1"/>
                </a:solidFill>
              </a:rPr>
              <a:t> in it which causes the molecules to be in greater motion than the freshwater molecules, and that will cause the ice to melt (be eroded away).</a:t>
            </a:r>
          </a:p>
          <a:p>
            <a:pPr marL="514350" indent="-514350">
              <a:buFont typeface="+mj-lt"/>
              <a:buAutoNum type="arabicPeriod"/>
            </a:pPr>
            <a:r>
              <a:rPr lang="en-US" sz="2400" dirty="0">
                <a:solidFill>
                  <a:schemeClr val="tx1"/>
                </a:solidFill>
              </a:rPr>
              <a:t>D=M/V</a:t>
            </a:r>
          </a:p>
        </p:txBody>
      </p:sp>
    </p:spTree>
    <p:extLst>
      <p:ext uri="{BB962C8B-B14F-4D97-AF65-F5344CB8AC3E}">
        <p14:creationId xmlns:p14="http://schemas.microsoft.com/office/powerpoint/2010/main" val="3381371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Ice Cubes Explanations: Prediction</a:t>
            </a:r>
            <a:endParaRPr lang="en-US" sz="4000" dirty="0"/>
          </a:p>
        </p:txBody>
      </p:sp>
      <p:sp>
        <p:nvSpPr>
          <p:cNvPr id="3" name="Content Placeholder 2"/>
          <p:cNvSpPr>
            <a:spLocks noGrp="1"/>
          </p:cNvSpPr>
          <p:nvPr>
            <p:ph idx="1"/>
          </p:nvPr>
        </p:nvSpPr>
        <p:spPr>
          <a:ln>
            <a:noFill/>
          </a:ln>
        </p:spPr>
        <p:txBody>
          <a:bodyPr>
            <a:noAutofit/>
          </a:bodyPr>
          <a:lstStyle/>
          <a:p>
            <a:pPr marL="0" indent="0">
              <a:buNone/>
            </a:pPr>
            <a:r>
              <a:rPr lang="en-US" sz="2800" dirty="0">
                <a:solidFill>
                  <a:srgbClr val="000000"/>
                </a:solidFill>
              </a:rPr>
              <a:t>I predict the ice will melt </a:t>
            </a:r>
            <a:r>
              <a:rPr lang="en-US" sz="2800" dirty="0">
                <a:solidFill>
                  <a:srgbClr val="3366FF"/>
                </a:solidFill>
              </a:rPr>
              <a:t>faster in fresh water</a:t>
            </a:r>
            <a:r>
              <a:rPr lang="en-US" sz="2800" dirty="0"/>
              <a:t> </a:t>
            </a:r>
            <a:r>
              <a:rPr lang="en-US" sz="2800" dirty="0">
                <a:solidFill>
                  <a:srgbClr val="000000"/>
                </a:solidFill>
              </a:rPr>
              <a:t>because:</a:t>
            </a:r>
          </a:p>
          <a:p>
            <a:pPr marL="514350" indent="-514350">
              <a:buFont typeface="+mj-lt"/>
              <a:buAutoNum type="arabicPeriod"/>
            </a:pPr>
            <a:r>
              <a:rPr lang="en-US" sz="2400" dirty="0">
                <a:solidFill>
                  <a:srgbClr val="000000"/>
                </a:solidFill>
              </a:rPr>
              <a:t>Adding salt makes things colder – that’s why you use it when making ice cream and why you put it in coolers of beer.</a:t>
            </a:r>
          </a:p>
          <a:p>
            <a:pPr marL="514350" indent="-514350">
              <a:buFont typeface="+mj-lt"/>
              <a:buAutoNum type="arabicPeriod"/>
            </a:pPr>
            <a:r>
              <a:rPr lang="en-US" sz="2400" dirty="0">
                <a:solidFill>
                  <a:srgbClr val="000000"/>
                </a:solidFill>
              </a:rPr>
              <a:t>Salt affects the freezing point of water.</a:t>
            </a:r>
          </a:p>
          <a:p>
            <a:pPr marL="514350" indent="-514350">
              <a:buFont typeface="+mj-lt"/>
              <a:buAutoNum type="arabicPeriod"/>
            </a:pPr>
            <a:r>
              <a:rPr lang="en-US" sz="2400" dirty="0">
                <a:solidFill>
                  <a:srgbClr val="000000"/>
                </a:solidFill>
              </a:rPr>
              <a:t>The ice will be more buoyant in salt water than in fresh water, so the ice cube will have less surface area in contact with liquid in the saltwater cup.</a:t>
            </a:r>
          </a:p>
          <a:p>
            <a:pPr marL="514350" indent="-514350">
              <a:buFont typeface="+mj-lt"/>
              <a:buAutoNum type="arabicPeriod"/>
            </a:pPr>
            <a:r>
              <a:rPr lang="en-US" sz="2400" dirty="0">
                <a:solidFill>
                  <a:srgbClr val="000000"/>
                </a:solidFill>
              </a:rPr>
              <a:t>Fresh water in the cup is the same as the fresh water melting off the ice cube, so it can melt more easily.</a:t>
            </a:r>
          </a:p>
        </p:txBody>
      </p:sp>
    </p:spTree>
    <p:extLst>
      <p:ext uri="{BB962C8B-B14F-4D97-AF65-F5344CB8AC3E}">
        <p14:creationId xmlns:p14="http://schemas.microsoft.com/office/powerpoint/2010/main" val="637515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300" dirty="0"/>
              <a:t>Ice Cubes Explanations: </a:t>
            </a:r>
            <a:r>
              <a:rPr lang="en-US" sz="4300" i="1" dirty="0"/>
              <a:t>Analysis</a:t>
            </a:r>
          </a:p>
        </p:txBody>
      </p:sp>
      <p:sp>
        <p:nvSpPr>
          <p:cNvPr id="3" name="Content Placeholder 2"/>
          <p:cNvSpPr>
            <a:spLocks noGrp="1"/>
          </p:cNvSpPr>
          <p:nvPr>
            <p:ph idx="1"/>
          </p:nvPr>
        </p:nvSpPr>
        <p:spPr>
          <a:xfrm>
            <a:off x="457200" y="1417638"/>
            <a:ext cx="8229600" cy="4708525"/>
          </a:xfrm>
        </p:spPr>
        <p:txBody>
          <a:bodyPr>
            <a:noAutofit/>
          </a:bodyPr>
          <a:lstStyle/>
          <a:p>
            <a:pPr marL="514350" indent="-514350">
              <a:buFont typeface="+mj-lt"/>
              <a:buAutoNum type="alphaLcPeriod"/>
              <a:defRPr/>
            </a:pPr>
            <a:r>
              <a:rPr lang="en-US" sz="2400" b="1" dirty="0">
                <a:solidFill>
                  <a:srgbClr val="000000"/>
                </a:solidFill>
              </a:rPr>
              <a:t>Lacking </a:t>
            </a:r>
            <a:r>
              <a:rPr lang="en-US" sz="2400" b="1" i="1" dirty="0">
                <a:solidFill>
                  <a:srgbClr val="000000"/>
                </a:solidFill>
              </a:rPr>
              <a:t>reasoning</a:t>
            </a:r>
            <a:r>
              <a:rPr lang="en-US" sz="2400" dirty="0">
                <a:solidFill>
                  <a:srgbClr val="000000"/>
                </a:solidFill>
              </a:rPr>
              <a:t>. Learners proffer concept (e.g., heat capacity) or formula (e.g., D=M/V), or use technical language, but do not provide reasoning to explain how those ideas are connected to the phenomenon.</a:t>
            </a:r>
          </a:p>
          <a:p>
            <a:pPr marL="514350" indent="-514350">
              <a:buFont typeface="+mj-lt"/>
              <a:buAutoNum type="alphaLcPeriod"/>
              <a:defRPr/>
            </a:pPr>
            <a:r>
              <a:rPr lang="en-US" sz="2400" b="1" dirty="0">
                <a:solidFill>
                  <a:srgbClr val="000000"/>
                </a:solidFill>
              </a:rPr>
              <a:t>Flawed </a:t>
            </a:r>
            <a:r>
              <a:rPr lang="en-US" sz="2400" b="1" i="1" dirty="0">
                <a:solidFill>
                  <a:srgbClr val="000000"/>
                </a:solidFill>
              </a:rPr>
              <a:t>understanding</a:t>
            </a:r>
            <a:r>
              <a:rPr lang="en-US" sz="2400" dirty="0">
                <a:solidFill>
                  <a:srgbClr val="000000"/>
                </a:solidFill>
              </a:rPr>
              <a:t>. Learners provide a concept or formula, but the elaboration reveal learners may not really understand the concept.</a:t>
            </a:r>
          </a:p>
          <a:p>
            <a:pPr marL="514350" indent="-514350">
              <a:buFont typeface="+mj-lt"/>
              <a:buAutoNum type="alphaLcPeriod"/>
              <a:defRPr/>
            </a:pPr>
            <a:r>
              <a:rPr lang="en-US" sz="2400" b="1" dirty="0"/>
              <a:t>Hindered by </a:t>
            </a:r>
            <a:r>
              <a:rPr lang="en-US" sz="2400" b="1" i="1" dirty="0"/>
              <a:t>prior knowledge</a:t>
            </a:r>
            <a:r>
              <a:rPr lang="en-US" sz="2400" b="1" dirty="0"/>
              <a:t>.</a:t>
            </a:r>
            <a:r>
              <a:rPr lang="en-US" sz="2400" dirty="0"/>
              <a:t> Learners use prior experience with salt and ice as analogous examples to generate an explanation for this experiment. But the examples distracted them from noticing to what was happening in the cups.</a:t>
            </a:r>
          </a:p>
          <a:p>
            <a:pPr marL="514350" indent="-514350">
              <a:buFont typeface="+mj-lt"/>
              <a:buAutoNum type="alphaLcPeriod"/>
              <a:defRPr/>
            </a:pPr>
            <a:endParaRPr lang="en-US" sz="2400" dirty="0">
              <a:solidFill>
                <a:schemeClr val="tx1"/>
              </a:solidFill>
            </a:endParaRPr>
          </a:p>
        </p:txBody>
      </p:sp>
    </p:spTree>
    <p:extLst>
      <p:ext uri="{BB962C8B-B14F-4D97-AF65-F5344CB8AC3E}">
        <p14:creationId xmlns:p14="http://schemas.microsoft.com/office/powerpoint/2010/main" val="2993730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Ice Cubes Explanations: </a:t>
            </a:r>
            <a:br>
              <a:rPr lang="en-US" dirty="0"/>
            </a:br>
            <a:r>
              <a:rPr lang="en-US" dirty="0"/>
              <a:t>After seeing results</a:t>
            </a:r>
          </a:p>
        </p:txBody>
      </p:sp>
      <p:sp>
        <p:nvSpPr>
          <p:cNvPr id="3" name="Content Placeholder 2"/>
          <p:cNvSpPr>
            <a:spLocks noGrp="1"/>
          </p:cNvSpPr>
          <p:nvPr>
            <p:ph idx="1"/>
          </p:nvPr>
        </p:nvSpPr>
        <p:spPr/>
        <p:txBody>
          <a:bodyPr>
            <a:noAutofit/>
          </a:bodyPr>
          <a:lstStyle/>
          <a:p>
            <a:pPr marL="457200" indent="-457200">
              <a:buAutoNum type="arabicPeriod"/>
              <a:defRPr/>
            </a:pPr>
            <a:r>
              <a:rPr lang="en-US" sz="2800" dirty="0">
                <a:solidFill>
                  <a:srgbClr val="000000"/>
                </a:solidFill>
              </a:rPr>
              <a:t>Like dissolves like. Fresh water in the cup is the same as the fresh water melting off the ice cube, so it can melt more easily. </a:t>
            </a:r>
          </a:p>
          <a:p>
            <a:pPr marL="457200" indent="-457200">
              <a:buAutoNum type="arabicPeriod"/>
              <a:defRPr/>
            </a:pPr>
            <a:r>
              <a:rPr lang="en-US" sz="2800" dirty="0">
                <a:solidFill>
                  <a:srgbClr val="000000"/>
                </a:solidFill>
              </a:rPr>
              <a:t>There are density differences between the freshwater ice cube and the cup of salt water; salt water is denser than fresh water, even really cold fresh water. This sets up two stratified layers: cold fresh water trapped on top of room-temperature salt water.</a:t>
            </a:r>
          </a:p>
        </p:txBody>
      </p:sp>
    </p:spTree>
    <p:extLst>
      <p:ext uri="{BB962C8B-B14F-4D97-AF65-F5344CB8AC3E}">
        <p14:creationId xmlns:p14="http://schemas.microsoft.com/office/powerpoint/2010/main" val="3013546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5798"/>
            <a:ext cx="8229600" cy="1143000"/>
          </a:xfrm>
        </p:spPr>
        <p:txBody>
          <a:bodyPr>
            <a:normAutofit fontScale="90000"/>
          </a:bodyPr>
          <a:lstStyle/>
          <a:p>
            <a:r>
              <a:rPr lang="en-US" dirty="0"/>
              <a:t>Ice Cubes Explanations: </a:t>
            </a:r>
            <a:br>
              <a:rPr lang="en-US" dirty="0"/>
            </a:br>
            <a:r>
              <a:rPr lang="en-US" dirty="0"/>
              <a:t>After seeing results</a:t>
            </a:r>
          </a:p>
        </p:txBody>
      </p:sp>
      <p:sp>
        <p:nvSpPr>
          <p:cNvPr id="3" name="Content Placeholder 2"/>
          <p:cNvSpPr>
            <a:spLocks noGrp="1"/>
          </p:cNvSpPr>
          <p:nvPr>
            <p:ph idx="1"/>
          </p:nvPr>
        </p:nvSpPr>
        <p:spPr/>
        <p:txBody>
          <a:bodyPr>
            <a:noAutofit/>
          </a:bodyPr>
          <a:lstStyle/>
          <a:p>
            <a:pPr marL="514350" indent="-514350">
              <a:buFont typeface="+mj-lt"/>
              <a:buAutoNum type="arabicPeriod" startAt="3"/>
            </a:pPr>
            <a:r>
              <a:rPr lang="en-US" sz="2400" dirty="0">
                <a:solidFill>
                  <a:srgbClr val="000000"/>
                </a:solidFill>
              </a:rPr>
              <a:t>Because of density differences, the freshwater layer made up of a small volume of icy cold fresh water that melts off the ice cube is stuck on top of the larger volume of room-temperature salt water. There is less volume for the cold fresh water to spread out, so it keeps the ice cube enveloped in very cold, just-melted water. In the freshwater cup, the cold, just-melted fresh water sinks to the bottom and effectively displaces the room-temperature water in a continual circulatory effect (convection current); the remaining ice cube is surrounded by less cold water. </a:t>
            </a:r>
          </a:p>
        </p:txBody>
      </p:sp>
    </p:spTree>
    <p:extLst>
      <p:ext uri="{BB962C8B-B14F-4D97-AF65-F5344CB8AC3E}">
        <p14:creationId xmlns:p14="http://schemas.microsoft.com/office/powerpoint/2010/main" val="1587404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5798"/>
            <a:ext cx="8229600" cy="1143000"/>
          </a:xfrm>
        </p:spPr>
        <p:txBody>
          <a:bodyPr>
            <a:noAutofit/>
          </a:bodyPr>
          <a:lstStyle/>
          <a:p>
            <a:r>
              <a:rPr lang="en-US" sz="3900"/>
              <a:t>Ice Cubes Explanations: </a:t>
            </a:r>
            <a:br>
              <a:rPr lang="en-US" sz="3900"/>
            </a:br>
            <a:r>
              <a:rPr lang="en-US" sz="3900"/>
              <a:t>After seeing results</a:t>
            </a:r>
            <a:endParaRPr lang="en-US" sz="3900" dirty="0"/>
          </a:p>
        </p:txBody>
      </p:sp>
      <p:sp>
        <p:nvSpPr>
          <p:cNvPr id="3" name="Content Placeholder 2"/>
          <p:cNvSpPr>
            <a:spLocks noGrp="1"/>
          </p:cNvSpPr>
          <p:nvPr>
            <p:ph idx="1"/>
          </p:nvPr>
        </p:nvSpPr>
        <p:spPr/>
        <p:txBody>
          <a:bodyPr>
            <a:normAutofit/>
          </a:bodyPr>
          <a:lstStyle/>
          <a:p>
            <a:pPr marL="0" indent="0">
              <a:buNone/>
            </a:pPr>
            <a:r>
              <a:rPr lang="en-US" dirty="0">
                <a:solidFill>
                  <a:srgbClr val="000000"/>
                </a:solidFill>
                <a:latin typeface="Minion Pro"/>
                <a:cs typeface="Minion Pro"/>
              </a:rPr>
              <a:t> </a:t>
            </a:r>
          </a:p>
          <a:p>
            <a:endParaRPr lang="en-US" dirty="0"/>
          </a:p>
        </p:txBody>
      </p:sp>
      <p:sp>
        <p:nvSpPr>
          <p:cNvPr id="4" name="Rectangle 3"/>
          <p:cNvSpPr/>
          <p:nvPr/>
        </p:nvSpPr>
        <p:spPr>
          <a:xfrm>
            <a:off x="457200" y="1831411"/>
            <a:ext cx="8229600" cy="2246769"/>
          </a:xfrm>
          <a:prstGeom prst="rect">
            <a:avLst/>
          </a:prstGeom>
        </p:spPr>
        <p:txBody>
          <a:bodyPr wrap="square">
            <a:spAutoFit/>
          </a:bodyPr>
          <a:lstStyle/>
          <a:p>
            <a:pPr marL="514350" indent="-514350">
              <a:buFont typeface="+mj-lt"/>
              <a:buAutoNum type="arabicPeriod" startAt="4"/>
              <a:defRPr/>
            </a:pPr>
            <a:r>
              <a:rPr lang="en-US" sz="2800" dirty="0">
                <a:solidFill>
                  <a:srgbClr val="000000"/>
                </a:solidFill>
                <a:latin typeface="Cambria" charset="0"/>
                <a:ea typeface="Cambria" charset="0"/>
                <a:cs typeface="Cambria" charset="0"/>
              </a:rPr>
              <a:t>I was right. The ice will be more buoyant in salt water than in fresh water, so the ice cube will have less surface area in contact with liquid in the saltwater cup. That will make the ice cubes melt more slowly in the saltwater cup.</a:t>
            </a:r>
            <a:endParaRPr lang="en-US" sz="2800" b="1" dirty="0">
              <a:solidFill>
                <a:srgbClr val="000000"/>
              </a:solidFill>
              <a:latin typeface="Cambria" charset="0"/>
              <a:ea typeface="Cambria" charset="0"/>
              <a:cs typeface="Cambria" charset="0"/>
            </a:endParaRPr>
          </a:p>
        </p:txBody>
      </p:sp>
    </p:spTree>
    <p:extLst>
      <p:ext uri="{BB962C8B-B14F-4D97-AF65-F5344CB8AC3E}">
        <p14:creationId xmlns:p14="http://schemas.microsoft.com/office/powerpoint/2010/main" val="3507272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607" y="164892"/>
            <a:ext cx="7274422" cy="7194858"/>
          </a:xfrm>
          <a:prstGeom prst="rect">
            <a:avLst/>
          </a:prstGeom>
        </p:spPr>
      </p:pic>
      <p:sp>
        <p:nvSpPr>
          <p:cNvPr id="2" name="Title 1"/>
          <p:cNvSpPr>
            <a:spLocks noGrp="1"/>
          </p:cNvSpPr>
          <p:nvPr>
            <p:ph type="title"/>
          </p:nvPr>
        </p:nvSpPr>
        <p:spPr>
          <a:xfrm>
            <a:off x="457200" y="974777"/>
            <a:ext cx="5883639" cy="1143000"/>
          </a:xfrm>
        </p:spPr>
        <p:txBody>
          <a:bodyPr>
            <a:normAutofit fontScale="90000"/>
          </a:bodyPr>
          <a:lstStyle/>
          <a:p>
            <a:r>
              <a:rPr lang="en-US" sz="4400" i="1" dirty="0"/>
              <a:t>More on</a:t>
            </a:r>
            <a:r>
              <a:rPr lang="en-US" sz="4400" dirty="0"/>
              <a:t> Prior Knowledge</a:t>
            </a:r>
          </a:p>
        </p:txBody>
      </p:sp>
      <p:sp>
        <p:nvSpPr>
          <p:cNvPr id="3" name="Content Placeholder 2"/>
          <p:cNvSpPr>
            <a:spLocks noGrp="1"/>
          </p:cNvSpPr>
          <p:nvPr>
            <p:ph idx="1"/>
          </p:nvPr>
        </p:nvSpPr>
        <p:spPr>
          <a:xfrm>
            <a:off x="457200" y="1858779"/>
            <a:ext cx="5883639" cy="4467069"/>
          </a:xfrm>
        </p:spPr>
        <p:txBody>
          <a:bodyPr>
            <a:noAutofit/>
          </a:bodyPr>
          <a:lstStyle/>
          <a:p>
            <a:r>
              <a:rPr lang="en-US" sz="2400" dirty="0">
                <a:solidFill>
                  <a:srgbClr val="000000"/>
                </a:solidFill>
              </a:rPr>
              <a:t>Humans are goal-directed agents who actively seek information. We have a range of prior knowledge, skills, beliefs, and concepts that significantly influence what we notice about the environment and how we organize and interpret it.</a:t>
            </a:r>
          </a:p>
          <a:p>
            <a:r>
              <a:rPr lang="en-US" sz="2400" dirty="0">
                <a:solidFill>
                  <a:srgbClr val="000000"/>
                </a:solidFill>
              </a:rPr>
              <a:t>This prior knowledge, in turn, affects our abilities to remember, reason, solve problems, and acquire new knowledge.</a:t>
            </a:r>
          </a:p>
          <a:p>
            <a:r>
              <a:rPr lang="en-US" sz="2400" dirty="0">
                <a:solidFill>
                  <a:srgbClr val="000000"/>
                </a:solidFill>
              </a:rPr>
              <a:t>Having errors in our understanding is an inescapable part of learning. </a:t>
            </a:r>
          </a:p>
        </p:txBody>
      </p:sp>
    </p:spTree>
    <p:extLst>
      <p:ext uri="{BB962C8B-B14F-4D97-AF65-F5344CB8AC3E}">
        <p14:creationId xmlns:p14="http://schemas.microsoft.com/office/powerpoint/2010/main" val="2627046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78702"/>
            <a:ext cx="8229600" cy="3447737"/>
          </a:xfrm>
        </p:spPr>
        <p:txBody>
          <a:bodyPr>
            <a:normAutofit/>
          </a:bodyPr>
          <a:lstStyle/>
          <a:p>
            <a:pPr marL="0" indent="0" algn="ctr">
              <a:buNone/>
            </a:pPr>
            <a:r>
              <a:rPr lang="en-US" sz="2800" i="1" dirty="0">
                <a:solidFill>
                  <a:srgbClr val="FF0000"/>
                </a:solidFill>
              </a:rPr>
              <a:t>So</a:t>
            </a:r>
            <a:r>
              <a:rPr lang="en-US" sz="2800" dirty="0">
                <a:solidFill>
                  <a:srgbClr val="FF0000"/>
                </a:solidFill>
              </a:rPr>
              <a:t>, is learning simply a matter of replacing those inaccuracies with the correct “answers”? </a:t>
            </a:r>
          </a:p>
          <a:p>
            <a:pPr marL="0" indent="0">
              <a:buNone/>
            </a:pPr>
            <a:endParaRPr lang="en-US" sz="2800" dirty="0"/>
          </a:p>
          <a:p>
            <a:pPr marL="0" indent="0">
              <a:buNone/>
            </a:pPr>
            <a:r>
              <a:rPr lang="en-US" sz="2800" dirty="0"/>
              <a:t>We know that just telling learners that their ideas, beliefs, and understandings are wrong doesn’t work. </a:t>
            </a:r>
          </a:p>
          <a:p>
            <a:pPr marL="0" indent="0" algn="ctr">
              <a:buNone/>
            </a:pPr>
            <a:r>
              <a:rPr lang="en-US" sz="2800" i="1" dirty="0">
                <a:solidFill>
                  <a:srgbClr val="FF0000"/>
                </a:solidFill>
              </a:rPr>
              <a:t>Why not?</a:t>
            </a:r>
          </a:p>
          <a:p>
            <a:pPr marL="0" indent="0">
              <a:buNone/>
            </a:pPr>
            <a:endParaRPr lang="en-US" sz="2800" dirty="0">
              <a:solidFill>
                <a:srgbClr val="FF0000"/>
              </a:solidFill>
            </a:endParaRPr>
          </a:p>
        </p:txBody>
      </p:sp>
    </p:spTree>
    <p:extLst>
      <p:ext uri="{BB962C8B-B14F-4D97-AF65-F5344CB8AC3E}">
        <p14:creationId xmlns:p14="http://schemas.microsoft.com/office/powerpoint/2010/main" val="1040331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743"/>
            <a:ext cx="8229600" cy="1630701"/>
          </a:xfrm>
        </p:spPr>
        <p:txBody>
          <a:bodyPr>
            <a:normAutofit fontScale="90000"/>
          </a:bodyPr>
          <a:lstStyle/>
          <a:p>
            <a:r>
              <a:rPr lang="en-US" sz="4700" dirty="0"/>
              <a:t>Reading Partner Research Discussion</a:t>
            </a:r>
            <a:br>
              <a:rPr lang="en-US" dirty="0"/>
            </a:br>
            <a:r>
              <a:rPr lang="en-US" sz="4000" dirty="0"/>
              <a:t>Prior knowledge &amp; Conceptual change</a:t>
            </a:r>
          </a:p>
        </p:txBody>
      </p:sp>
      <p:sp>
        <p:nvSpPr>
          <p:cNvPr id="4" name="Content Placeholder 3"/>
          <p:cNvSpPr>
            <a:spLocks noGrp="1"/>
          </p:cNvSpPr>
          <p:nvPr>
            <p:ph idx="1"/>
          </p:nvPr>
        </p:nvSpPr>
        <p:spPr>
          <a:xfrm>
            <a:off x="457200" y="1959429"/>
            <a:ext cx="8229600" cy="4588328"/>
          </a:xfrm>
        </p:spPr>
        <p:txBody>
          <a:bodyPr>
            <a:noAutofit/>
          </a:bodyPr>
          <a:lstStyle/>
          <a:p>
            <a:r>
              <a:rPr lang="en-US" sz="2000" b="1" dirty="0">
                <a:ea typeface="ＭＳ Ｐゴシック" pitchFamily="1" charset="-128"/>
              </a:rPr>
              <a:t>Form</a:t>
            </a:r>
            <a:r>
              <a:rPr lang="en-US" sz="2000" dirty="0">
                <a:ea typeface="ＭＳ Ｐゴシック" pitchFamily="1" charset="-128"/>
              </a:rPr>
              <a:t> groups of 4.</a:t>
            </a:r>
          </a:p>
          <a:p>
            <a:r>
              <a:rPr lang="en-US" sz="2000" b="1" dirty="0">
                <a:ea typeface="ＭＳ Ｐゴシック" pitchFamily="1" charset="-128"/>
              </a:rPr>
              <a:t>Pair up </a:t>
            </a:r>
            <a:r>
              <a:rPr lang="en-US" sz="2000" dirty="0">
                <a:ea typeface="ＭＳ Ｐゴシック" pitchFamily="1" charset="-128"/>
              </a:rPr>
              <a:t>with someone in your group.</a:t>
            </a:r>
          </a:p>
          <a:p>
            <a:r>
              <a:rPr lang="en-US" sz="2000" dirty="0">
                <a:ea typeface="ＭＳ Ｐゴシック" pitchFamily="1" charset="-128"/>
              </a:rPr>
              <a:t>Each pair </a:t>
            </a:r>
            <a:r>
              <a:rPr lang="en-US" sz="2000" b="1" dirty="0">
                <a:ea typeface="ＭＳ Ｐゴシック" pitchFamily="1" charset="-128"/>
              </a:rPr>
              <a:t>Read</a:t>
            </a:r>
            <a:r>
              <a:rPr lang="en-US" sz="2000" dirty="0">
                <a:ea typeface="ＭＳ Ｐゴシック" pitchFamily="1" charset="-128"/>
              </a:rPr>
              <a:t> one topic.</a:t>
            </a:r>
          </a:p>
          <a:p>
            <a:r>
              <a:rPr lang="en-US" sz="2000" b="1" dirty="0">
                <a:ea typeface="ＭＳ Ｐゴシック" pitchFamily="1" charset="-128"/>
              </a:rPr>
              <a:t>Talk </a:t>
            </a:r>
            <a:r>
              <a:rPr lang="en-US" sz="2000" dirty="0">
                <a:ea typeface="ＭＳ Ｐゴシック" pitchFamily="1" charset="-128"/>
              </a:rPr>
              <a:t>with your partner:</a:t>
            </a:r>
          </a:p>
          <a:p>
            <a:pPr lvl="1"/>
            <a:r>
              <a:rPr lang="en-US" sz="2000" dirty="0">
                <a:ea typeface="ＭＳ Ｐゴシック" pitchFamily="1" charset="-128"/>
              </a:rPr>
              <a:t>What does each idea mean?</a:t>
            </a:r>
          </a:p>
          <a:p>
            <a:pPr lvl="1"/>
            <a:r>
              <a:rPr lang="en-US" sz="2000" dirty="0">
                <a:ea typeface="ＭＳ Ｐゴシック" pitchFamily="1" charset="-128"/>
              </a:rPr>
              <a:t>How do the ideas relate to what you already know?</a:t>
            </a:r>
          </a:p>
          <a:p>
            <a:r>
              <a:rPr lang="en-US" sz="2000" b="1" dirty="0">
                <a:ea typeface="ＭＳ Ｐゴシック" pitchFamily="1" charset="-128"/>
              </a:rPr>
              <a:t>Share &amp; Discuss </a:t>
            </a:r>
            <a:r>
              <a:rPr lang="en-US" sz="2000" dirty="0">
                <a:ea typeface="ＭＳ Ｐゴシック" pitchFamily="1" charset="-128"/>
              </a:rPr>
              <a:t>in your group:</a:t>
            </a:r>
          </a:p>
          <a:p>
            <a:pPr lvl="1"/>
            <a:r>
              <a:rPr lang="en-US" sz="2000" dirty="0">
                <a:ea typeface="ＭＳ Ｐゴシック" pitchFamily="1" charset="-128"/>
              </a:rPr>
              <a:t>What is your topic about?</a:t>
            </a:r>
          </a:p>
          <a:p>
            <a:pPr lvl="1"/>
            <a:r>
              <a:rPr lang="en-US" sz="2000" dirty="0">
                <a:ea typeface="ＭＳ Ｐゴシック" pitchFamily="1" charset="-128"/>
              </a:rPr>
              <a:t>What questions came up?</a:t>
            </a:r>
          </a:p>
          <a:p>
            <a:pPr lvl="1"/>
            <a:r>
              <a:rPr lang="en-US" sz="2000" dirty="0">
                <a:ea typeface="ＭＳ Ｐゴシック" pitchFamily="1" charset="-128"/>
              </a:rPr>
              <a:t>What are connections between the topics?</a:t>
            </a:r>
          </a:p>
          <a:p>
            <a:r>
              <a:rPr lang="en-US" sz="2000" b="1" dirty="0">
                <a:ea typeface="ＭＳ Ｐゴシック" pitchFamily="1" charset="-128"/>
              </a:rPr>
              <a:t>Be prepared </a:t>
            </a:r>
            <a:r>
              <a:rPr lang="en-US" sz="2000" dirty="0">
                <a:ea typeface="ＭＳ Ｐゴシック" pitchFamily="1" charset="-128"/>
              </a:rPr>
              <a:t>to share the big ideas from group discussion.</a:t>
            </a:r>
          </a:p>
        </p:txBody>
      </p:sp>
      <p:sp>
        <p:nvSpPr>
          <p:cNvPr id="6" name="TextBox 5"/>
          <p:cNvSpPr txBox="1"/>
          <p:nvPr/>
        </p:nvSpPr>
        <p:spPr>
          <a:xfrm>
            <a:off x="6275071" y="1703484"/>
            <a:ext cx="2340609" cy="2031325"/>
          </a:xfrm>
          <a:prstGeom prst="rect">
            <a:avLst/>
          </a:prstGeom>
          <a:noFill/>
          <a:ln w="38100">
            <a:solidFill>
              <a:srgbClr val="FFC000"/>
            </a:solidFill>
          </a:ln>
        </p:spPr>
        <p:txBody>
          <a:bodyPr wrap="square" lIns="91440" tIns="91440" rIns="91440" bIns="91440" rtlCol="0">
            <a:spAutoFit/>
          </a:bodyPr>
          <a:lstStyle/>
          <a:p>
            <a:pPr marL="342900" indent="-342900">
              <a:buFont typeface="+mj-lt"/>
              <a:buAutoNum type="arabicPeriod"/>
            </a:pPr>
            <a:r>
              <a:rPr lang="en-US" sz="2000" dirty="0">
                <a:latin typeface="Gill Sans" charset="0"/>
                <a:ea typeface="Gill Sans" charset="0"/>
                <a:cs typeface="Gill Sans" charset="0"/>
              </a:rPr>
              <a:t>3 Conditions and 3 Grain Sizes </a:t>
            </a:r>
            <a:r>
              <a:rPr lang="en-US" sz="2000">
                <a:latin typeface="Gill Sans" charset="0"/>
                <a:ea typeface="Gill Sans" charset="0"/>
                <a:cs typeface="Gill Sans" charset="0"/>
              </a:rPr>
              <a:t>of Knowledge</a:t>
            </a:r>
          </a:p>
          <a:p>
            <a:pPr marL="342900" indent="-342900">
              <a:buFont typeface="+mj-lt"/>
              <a:buAutoNum type="arabicPeriod"/>
            </a:pPr>
            <a:endParaRPr lang="en-US" sz="2000" dirty="0">
              <a:latin typeface="Gill Sans" charset="0"/>
              <a:ea typeface="Gill Sans" charset="0"/>
              <a:cs typeface="Gill Sans" charset="0"/>
            </a:endParaRPr>
          </a:p>
          <a:p>
            <a:pPr marL="342900" indent="-342900">
              <a:buFont typeface="+mj-lt"/>
              <a:buAutoNum type="arabicPeriod"/>
            </a:pPr>
            <a:r>
              <a:rPr lang="en-US" sz="2000" dirty="0">
                <a:latin typeface="Gill Sans" charset="0"/>
                <a:ea typeface="Gill Sans" charset="0"/>
                <a:cs typeface="Gill Sans" charset="0"/>
              </a:rPr>
              <a:t>Addressing Misconceptions</a:t>
            </a:r>
          </a:p>
        </p:txBody>
      </p:sp>
    </p:spTree>
    <p:extLst>
      <p:ext uri="{BB962C8B-B14F-4D97-AF65-F5344CB8AC3E}">
        <p14:creationId xmlns:p14="http://schemas.microsoft.com/office/powerpoint/2010/main" val="1853540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b="11751"/>
          <a:stretch/>
        </p:blipFill>
        <p:spPr>
          <a:xfrm>
            <a:off x="1524433" y="2309249"/>
            <a:ext cx="6095133" cy="3585915"/>
          </a:xfrm>
          <a:prstGeom prst="rect">
            <a:avLst/>
          </a:prstGeom>
        </p:spPr>
      </p:pic>
      <p:sp>
        <p:nvSpPr>
          <p:cNvPr id="2" name="Title 1"/>
          <p:cNvSpPr>
            <a:spLocks noGrp="1"/>
          </p:cNvSpPr>
          <p:nvPr>
            <p:ph type="title"/>
          </p:nvPr>
        </p:nvSpPr>
        <p:spPr/>
        <p:txBody>
          <a:bodyPr>
            <a:normAutofit fontScale="90000"/>
          </a:bodyPr>
          <a:lstStyle/>
          <a:p>
            <a:r>
              <a:rPr lang="en-US" dirty="0"/>
              <a:t>Whole-Community Discussion </a:t>
            </a:r>
            <a:br>
              <a:rPr lang="en-US" dirty="0"/>
            </a:br>
            <a:r>
              <a:rPr lang="en-US" sz="4000" dirty="0"/>
              <a:t>Prior knowledge &amp; Conceptual change</a:t>
            </a:r>
          </a:p>
        </p:txBody>
      </p:sp>
      <p:sp>
        <p:nvSpPr>
          <p:cNvPr id="5" name="TextBox 4"/>
          <p:cNvSpPr txBox="1"/>
          <p:nvPr/>
        </p:nvSpPr>
        <p:spPr>
          <a:xfrm>
            <a:off x="457200" y="1417638"/>
            <a:ext cx="3298372" cy="1938992"/>
          </a:xfrm>
          <a:prstGeom prst="rect">
            <a:avLst/>
          </a:prstGeom>
          <a:noFill/>
        </p:spPr>
        <p:txBody>
          <a:bodyPr wrap="square" rtlCol="0">
            <a:spAutoFit/>
          </a:bodyPr>
          <a:lstStyle/>
          <a:p>
            <a:r>
              <a:rPr lang="en-US" sz="2400" dirty="0">
                <a:latin typeface="Cambria" charset="0"/>
                <a:ea typeface="Cambria" charset="0"/>
                <a:cs typeface="Cambria" charset="0"/>
              </a:rPr>
              <a:t>What ideas generated interesting/perplexing/controversial/excited discussion within your group?</a:t>
            </a:r>
          </a:p>
        </p:txBody>
      </p:sp>
      <p:sp>
        <p:nvSpPr>
          <p:cNvPr id="6" name="TextBox 5"/>
          <p:cNvSpPr txBox="1"/>
          <p:nvPr/>
        </p:nvSpPr>
        <p:spPr>
          <a:xfrm>
            <a:off x="6450873" y="1913155"/>
            <a:ext cx="2337385" cy="1938992"/>
          </a:xfrm>
          <a:prstGeom prst="rect">
            <a:avLst/>
          </a:prstGeom>
          <a:noFill/>
        </p:spPr>
        <p:txBody>
          <a:bodyPr wrap="square" rtlCol="0">
            <a:spAutoFit/>
          </a:bodyPr>
          <a:lstStyle/>
          <a:p>
            <a:pPr algn="r"/>
            <a:r>
              <a:rPr lang="en-US" sz="2400" dirty="0">
                <a:latin typeface="Cambria" charset="0"/>
                <a:ea typeface="Cambria" charset="0"/>
                <a:cs typeface="Cambria" charset="0"/>
              </a:rPr>
              <a:t>What connections did you notice across the topics?</a:t>
            </a:r>
          </a:p>
        </p:txBody>
      </p:sp>
      <p:sp>
        <p:nvSpPr>
          <p:cNvPr id="7" name="TextBox 6"/>
          <p:cNvSpPr txBox="1"/>
          <p:nvPr/>
        </p:nvSpPr>
        <p:spPr>
          <a:xfrm>
            <a:off x="1402947" y="5791139"/>
            <a:ext cx="6338106" cy="830997"/>
          </a:xfrm>
          <a:prstGeom prst="rect">
            <a:avLst/>
          </a:prstGeom>
          <a:noFill/>
        </p:spPr>
        <p:txBody>
          <a:bodyPr wrap="square" rtlCol="0">
            <a:spAutoFit/>
          </a:bodyPr>
          <a:lstStyle/>
          <a:p>
            <a:pPr marL="0" lvl="1" algn="ctr"/>
            <a:r>
              <a:rPr lang="en-US" sz="2400" dirty="0">
                <a:latin typeface="Cambria" charset="0"/>
                <a:ea typeface="Cambria" charset="0"/>
                <a:cs typeface="Cambria" charset="0"/>
              </a:rPr>
              <a:t>What new connections emerged that broadened your thinking in new directions?</a:t>
            </a:r>
          </a:p>
        </p:txBody>
      </p:sp>
    </p:spTree>
    <p:extLst>
      <p:ext uri="{BB962C8B-B14F-4D97-AF65-F5344CB8AC3E}">
        <p14:creationId xmlns:p14="http://schemas.microsoft.com/office/powerpoint/2010/main" val="42523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672" y="384738"/>
            <a:ext cx="8695196" cy="888721"/>
          </a:xfrm>
        </p:spPr>
        <p:txBody>
          <a:bodyPr>
            <a:normAutofit fontScale="90000"/>
          </a:bodyPr>
          <a:lstStyle/>
          <a:p>
            <a:r>
              <a:rPr lang="en-US" sz="4800" dirty="0"/>
              <a:t>Summary of Ideas</a:t>
            </a:r>
            <a:br>
              <a:rPr lang="en-US" sz="3600" dirty="0"/>
            </a:br>
            <a:r>
              <a:rPr lang="en-US" sz="4000" dirty="0"/>
              <a:t>Prior Knowledge and Conceptual Change</a:t>
            </a:r>
          </a:p>
        </p:txBody>
      </p:sp>
      <p:sp>
        <p:nvSpPr>
          <p:cNvPr id="3" name="Content Placeholder 2"/>
          <p:cNvSpPr>
            <a:spLocks noGrp="1"/>
          </p:cNvSpPr>
          <p:nvPr>
            <p:ph idx="1"/>
          </p:nvPr>
        </p:nvSpPr>
        <p:spPr>
          <a:xfrm>
            <a:off x="457200" y="1648918"/>
            <a:ext cx="8506668" cy="4916774"/>
          </a:xfrm>
        </p:spPr>
        <p:txBody>
          <a:bodyPr>
            <a:noAutofit/>
          </a:bodyPr>
          <a:lstStyle/>
          <a:p>
            <a:pPr marL="457200" indent="-457200">
              <a:buFont typeface="+mj-lt"/>
              <a:buAutoNum type="alphaLcPeriod"/>
            </a:pPr>
            <a:r>
              <a:rPr lang="en-US" sz="2400" b="1" dirty="0">
                <a:solidFill>
                  <a:srgbClr val="000000"/>
                </a:solidFill>
              </a:rPr>
              <a:t>Three conditions of prior knowledge</a:t>
            </a:r>
            <a:r>
              <a:rPr lang="en-US" sz="2400" dirty="0">
                <a:solidFill>
                  <a:srgbClr val="000000"/>
                </a:solidFill>
              </a:rPr>
              <a:t>. Learners’ prior knowledge about concepts we teach </a:t>
            </a:r>
            <a:r>
              <a:rPr lang="en-US" sz="2400" dirty="0">
                <a:solidFill>
                  <a:schemeClr val="tx1"/>
                </a:solidFill>
              </a:rPr>
              <a:t>may </a:t>
            </a:r>
            <a:r>
              <a:rPr lang="en-US" sz="2400" i="1" dirty="0">
                <a:solidFill>
                  <a:schemeClr val="tx1"/>
                </a:solidFill>
              </a:rPr>
              <a:t>be incomplete, misconceived, </a:t>
            </a:r>
            <a:r>
              <a:rPr lang="en-US" sz="2400" dirty="0">
                <a:solidFill>
                  <a:schemeClr val="tx1"/>
                </a:solidFill>
              </a:rPr>
              <a:t>or</a:t>
            </a:r>
            <a:r>
              <a:rPr lang="en-US" sz="2400" i="1" dirty="0">
                <a:solidFill>
                  <a:schemeClr val="tx1"/>
                </a:solidFill>
              </a:rPr>
              <a:t> missing altogether</a:t>
            </a:r>
            <a:r>
              <a:rPr lang="en-US" sz="2400" dirty="0">
                <a:solidFill>
                  <a:srgbClr val="000000"/>
                </a:solidFill>
              </a:rPr>
              <a:t>. </a:t>
            </a:r>
          </a:p>
          <a:p>
            <a:pPr marL="457200" indent="-457200">
              <a:buFont typeface="+mj-lt"/>
              <a:buAutoNum type="alphaLcPeriod"/>
            </a:pPr>
            <a:r>
              <a:rPr lang="en-US" sz="2400" b="1" dirty="0">
                <a:solidFill>
                  <a:srgbClr val="000000"/>
                </a:solidFill>
              </a:rPr>
              <a:t>Three grain sizes of knowledge. </a:t>
            </a:r>
            <a:r>
              <a:rPr lang="en-US" sz="2400" dirty="0">
                <a:solidFill>
                  <a:srgbClr val="000000"/>
                </a:solidFill>
              </a:rPr>
              <a:t>Our knowledge can be conceived of as </a:t>
            </a:r>
            <a:r>
              <a:rPr lang="en-US" sz="2400" i="1" dirty="0">
                <a:solidFill>
                  <a:srgbClr val="000000"/>
                </a:solidFill>
              </a:rPr>
              <a:t>individual belief, mental model</a:t>
            </a:r>
            <a:r>
              <a:rPr lang="en-US" sz="2400" dirty="0">
                <a:solidFill>
                  <a:srgbClr val="000000"/>
                </a:solidFill>
              </a:rPr>
              <a:t>, and </a:t>
            </a:r>
            <a:r>
              <a:rPr lang="en-US" sz="2400" i="1" dirty="0">
                <a:solidFill>
                  <a:srgbClr val="000000"/>
                </a:solidFill>
              </a:rPr>
              <a:t>category</a:t>
            </a:r>
            <a:r>
              <a:rPr lang="en-US" sz="2400" dirty="0">
                <a:solidFill>
                  <a:srgbClr val="000000"/>
                </a:solidFill>
              </a:rPr>
              <a:t>. We don’t advance from one grain size to the next as we learn. They exist simultaneously.</a:t>
            </a:r>
          </a:p>
          <a:p>
            <a:pPr marL="457200" indent="-457200">
              <a:buFont typeface="+mj-lt"/>
              <a:buAutoNum type="alphaLcPeriod"/>
            </a:pPr>
            <a:r>
              <a:rPr lang="en-US" sz="2400" b="1" dirty="0">
                <a:solidFill>
                  <a:srgbClr val="000000"/>
                </a:solidFill>
              </a:rPr>
              <a:t>Wrong answers are complicated. </a:t>
            </a:r>
            <a:r>
              <a:rPr lang="en-US" sz="2400" dirty="0">
                <a:solidFill>
                  <a:srgbClr val="000000"/>
                </a:solidFill>
              </a:rPr>
              <a:t>There are many sources for learners’ inaccuracies.</a:t>
            </a:r>
          </a:p>
          <a:p>
            <a:pPr marL="457200" indent="-457200">
              <a:buFont typeface="+mj-lt"/>
              <a:buAutoNum type="alphaLcPeriod"/>
            </a:pPr>
            <a:r>
              <a:rPr lang="en-US" sz="2400" b="1" dirty="0">
                <a:solidFill>
                  <a:srgbClr val="000000"/>
                </a:solidFill>
              </a:rPr>
              <a:t>Nudging conceptual change. </a:t>
            </a:r>
            <a:r>
              <a:rPr lang="en-US" sz="2400" dirty="0">
                <a:solidFill>
                  <a:srgbClr val="000000"/>
                </a:solidFill>
              </a:rPr>
              <a:t>We cannot eradicate misconceptions. It requires repeated exposure and many opportunities to engage with the concepts. </a:t>
            </a:r>
          </a:p>
          <a:p>
            <a:pPr marL="457200" indent="-457200">
              <a:buFont typeface="+mj-lt"/>
              <a:buAutoNum type="alphaLcPeriod"/>
            </a:pPr>
            <a:endParaRPr lang="en-US" sz="2400" dirty="0">
              <a:solidFill>
                <a:srgbClr val="000000"/>
              </a:solidFill>
            </a:endParaRPr>
          </a:p>
          <a:p>
            <a:pPr marL="457200" indent="-457200">
              <a:buFont typeface="+mj-lt"/>
              <a:buAutoNum type="alphaLcPeriod"/>
            </a:pPr>
            <a:endParaRPr lang="en-US" sz="2400" dirty="0">
              <a:solidFill>
                <a:srgbClr val="000000"/>
              </a:solidFill>
            </a:endParaRPr>
          </a:p>
        </p:txBody>
      </p:sp>
    </p:spTree>
    <p:extLst>
      <p:ext uri="{BB962C8B-B14F-4D97-AF65-F5344CB8AC3E}">
        <p14:creationId xmlns:p14="http://schemas.microsoft.com/office/powerpoint/2010/main" val="1230101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9888"/>
            <a:ext cx="8229600" cy="1143000"/>
          </a:xfrm>
        </p:spPr>
        <p:txBody>
          <a:bodyPr/>
          <a:lstStyle/>
          <a:p>
            <a:r>
              <a:rPr lang="en-US" dirty="0"/>
              <a:t>Ideas on Learning </a:t>
            </a:r>
            <a:r>
              <a:rPr lang="en-US" i="1" dirty="0"/>
              <a:t>Revisited</a:t>
            </a:r>
            <a:endParaRPr lang="en-US" dirty="0"/>
          </a:p>
        </p:txBody>
      </p:sp>
      <p:sp>
        <p:nvSpPr>
          <p:cNvPr id="3" name="Content Placeholder 2"/>
          <p:cNvSpPr>
            <a:spLocks noGrp="1"/>
          </p:cNvSpPr>
          <p:nvPr>
            <p:ph idx="1"/>
          </p:nvPr>
        </p:nvSpPr>
        <p:spPr>
          <a:xfrm>
            <a:off x="457200" y="2133600"/>
            <a:ext cx="8229600" cy="3992563"/>
          </a:xfrm>
        </p:spPr>
        <p:txBody>
          <a:bodyPr>
            <a:normAutofit/>
          </a:bodyPr>
          <a:lstStyle/>
          <a:p>
            <a:pPr marL="0" indent="0" algn="ctr">
              <a:buNone/>
            </a:pPr>
            <a:r>
              <a:rPr lang="en-US" sz="2800" b="1" dirty="0"/>
              <a:t>How do people </a:t>
            </a:r>
            <a:r>
              <a:rPr lang="en-US" sz="2800" b="1"/>
              <a:t>learn?</a:t>
            </a:r>
            <a:endParaRPr lang="en-US" sz="2800" b="1"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 y="1512888"/>
            <a:ext cx="8648700" cy="4324350"/>
          </a:xfrm>
          <a:prstGeom prst="rect">
            <a:avLst/>
          </a:prstGeom>
        </p:spPr>
      </p:pic>
      <p:sp>
        <p:nvSpPr>
          <p:cNvPr id="5" name="TextBox 4"/>
          <p:cNvSpPr txBox="1"/>
          <p:nvPr/>
        </p:nvSpPr>
        <p:spPr>
          <a:xfrm>
            <a:off x="4933950" y="4781371"/>
            <a:ext cx="3867150" cy="1200329"/>
          </a:xfrm>
          <a:prstGeom prst="rect">
            <a:avLst/>
          </a:prstGeom>
          <a:noFill/>
        </p:spPr>
        <p:txBody>
          <a:bodyPr wrap="square" rtlCol="0">
            <a:spAutoFit/>
          </a:bodyPr>
          <a:lstStyle/>
          <a:p>
            <a:pPr algn="r"/>
            <a:r>
              <a:rPr lang="en-US" sz="2400" dirty="0">
                <a:latin typeface="Cambria" charset="0"/>
                <a:ea typeface="Cambria" charset="0"/>
                <a:cs typeface="Cambria" charset="0"/>
              </a:rPr>
              <a:t>3 Words</a:t>
            </a:r>
          </a:p>
          <a:p>
            <a:pPr algn="r"/>
            <a:r>
              <a:rPr lang="en-US" sz="2400" dirty="0">
                <a:latin typeface="Cambria" charset="0"/>
                <a:ea typeface="Cambria" charset="0"/>
                <a:cs typeface="Cambria" charset="0"/>
              </a:rPr>
              <a:t>2 Questions</a:t>
            </a:r>
          </a:p>
          <a:p>
            <a:pPr algn="r"/>
            <a:r>
              <a:rPr lang="en-US" sz="2400" dirty="0">
                <a:latin typeface="Cambria" charset="0"/>
                <a:ea typeface="Cambria" charset="0"/>
                <a:cs typeface="Cambria" charset="0"/>
              </a:rPr>
              <a:t>1 Analogy or Metaphor</a:t>
            </a:r>
          </a:p>
        </p:txBody>
      </p:sp>
      <p:sp>
        <p:nvSpPr>
          <p:cNvPr id="7" name="TextBox 6"/>
          <p:cNvSpPr txBox="1"/>
          <p:nvPr/>
        </p:nvSpPr>
        <p:spPr>
          <a:xfrm>
            <a:off x="266700" y="4781370"/>
            <a:ext cx="5384592" cy="1200329"/>
          </a:xfrm>
          <a:prstGeom prst="rect">
            <a:avLst/>
          </a:prstGeom>
          <a:noFill/>
        </p:spPr>
        <p:txBody>
          <a:bodyPr wrap="square" rtlCol="0">
            <a:spAutoFit/>
          </a:bodyPr>
          <a:lstStyle/>
          <a:p>
            <a:pPr algn="ctr"/>
            <a:r>
              <a:rPr lang="en-US" sz="3600" b="1" spc="50" dirty="0">
                <a:ln w="0"/>
                <a:solidFill>
                  <a:schemeClr val="accent1">
                    <a:lumMod val="75000"/>
                  </a:schemeClr>
                </a:solidFill>
                <a:effectLst>
                  <a:innerShdw blurRad="63500" dist="50800" dir="13500000">
                    <a:srgbClr val="000000">
                      <a:alpha val="50000"/>
                    </a:srgbClr>
                  </a:innerShdw>
                </a:effectLst>
                <a:latin typeface="Gill Sans" charset="0"/>
                <a:ea typeface="Gill Sans" charset="0"/>
                <a:cs typeface="Gill Sans" charset="0"/>
              </a:rPr>
              <a:t>What changed?</a:t>
            </a:r>
          </a:p>
          <a:p>
            <a:pPr algn="ctr"/>
            <a:r>
              <a:rPr lang="en-US" sz="3600" b="1" spc="50" dirty="0">
                <a:ln w="0"/>
                <a:solidFill>
                  <a:schemeClr val="accent1">
                    <a:lumMod val="75000"/>
                  </a:schemeClr>
                </a:solidFill>
                <a:effectLst>
                  <a:innerShdw blurRad="63500" dist="50800" dir="13500000">
                    <a:srgbClr val="000000">
                      <a:alpha val="50000"/>
                    </a:srgbClr>
                  </a:innerShdw>
                </a:effectLst>
                <a:latin typeface="Gill Sans" charset="0"/>
                <a:ea typeface="Gill Sans" charset="0"/>
                <a:cs typeface="Gill Sans" charset="0"/>
              </a:rPr>
              <a:t>What didn’t?</a:t>
            </a:r>
          </a:p>
        </p:txBody>
      </p:sp>
    </p:spTree>
    <p:extLst>
      <p:ext uri="{BB962C8B-B14F-4D97-AF65-F5344CB8AC3E}">
        <p14:creationId xmlns:p14="http://schemas.microsoft.com/office/powerpoint/2010/main" val="4539444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Analogy &amp; Metaphor</a:t>
            </a:r>
          </a:p>
        </p:txBody>
      </p:sp>
      <p:sp>
        <p:nvSpPr>
          <p:cNvPr id="3" name="Content Placeholder 2"/>
          <p:cNvSpPr>
            <a:spLocks noGrp="1"/>
          </p:cNvSpPr>
          <p:nvPr>
            <p:ph sz="half" idx="1"/>
          </p:nvPr>
        </p:nvSpPr>
        <p:spPr>
          <a:xfrm>
            <a:off x="457200" y="1600200"/>
            <a:ext cx="4038600" cy="4991100"/>
          </a:xfrm>
        </p:spPr>
        <p:txBody>
          <a:bodyPr>
            <a:noAutofit/>
          </a:bodyPr>
          <a:lstStyle/>
          <a:p>
            <a:pPr marL="0" indent="0">
              <a:buNone/>
            </a:pPr>
            <a:r>
              <a:rPr lang="en-US" sz="2000" b="1" dirty="0">
                <a:latin typeface="Cambria" charset="0"/>
                <a:ea typeface="Cambria" charset="0"/>
                <a:cs typeface="Cambria" charset="0"/>
              </a:rPr>
              <a:t>Analogy</a:t>
            </a:r>
            <a:r>
              <a:rPr lang="en-US" sz="2000" dirty="0">
                <a:latin typeface="Cambria" charset="0"/>
                <a:ea typeface="Cambria" charset="0"/>
                <a:cs typeface="Cambria" charset="0"/>
              </a:rPr>
              <a:t> </a:t>
            </a:r>
          </a:p>
          <a:p>
            <a:r>
              <a:rPr lang="en-US" sz="2000" dirty="0">
                <a:latin typeface="Cambria" charset="0"/>
                <a:ea typeface="Cambria" charset="0"/>
                <a:cs typeface="Cambria" charset="0"/>
              </a:rPr>
              <a:t>a </a:t>
            </a:r>
            <a:r>
              <a:rPr lang="en-US" sz="2000" u="sng" dirty="0">
                <a:latin typeface="Cambria" charset="0"/>
                <a:ea typeface="Cambria" charset="0"/>
                <a:cs typeface="Cambria" charset="0"/>
              </a:rPr>
              <a:t>comparison</a:t>
            </a:r>
            <a:r>
              <a:rPr lang="en-US" sz="2000" dirty="0">
                <a:latin typeface="Cambria" charset="0"/>
                <a:ea typeface="Cambria" charset="0"/>
                <a:cs typeface="Cambria" charset="0"/>
              </a:rPr>
              <a:t> in which an idea or a thing is compared to another thing that is quite different from it. </a:t>
            </a:r>
          </a:p>
          <a:p>
            <a:r>
              <a:rPr lang="en-US" sz="2000" dirty="0">
                <a:latin typeface="Cambria" charset="0"/>
                <a:ea typeface="Cambria" charset="0"/>
                <a:cs typeface="Cambria" charset="0"/>
              </a:rPr>
              <a:t>“explains” that idea or thing by comparing it to something that is familiar.</a:t>
            </a:r>
          </a:p>
          <a:p>
            <a:r>
              <a:rPr lang="en-US" sz="2000" i="1" dirty="0">
                <a:latin typeface="Cambria" charset="0"/>
                <a:ea typeface="Cambria" charset="0"/>
                <a:cs typeface="Cambria" charset="0"/>
              </a:rPr>
              <a:t>Example</a:t>
            </a:r>
            <a:r>
              <a:rPr lang="en-US" sz="2000" dirty="0">
                <a:latin typeface="Cambria" charset="0"/>
                <a:ea typeface="Cambria" charset="0"/>
                <a:cs typeface="Cambria" charset="0"/>
              </a:rPr>
              <a:t>: </a:t>
            </a:r>
            <a:r>
              <a:rPr lang="en-US" sz="2000" dirty="0">
                <a:solidFill>
                  <a:srgbClr val="0070C0"/>
                </a:solidFill>
                <a:latin typeface="Cambria" charset="0"/>
                <a:ea typeface="Cambria" charset="0"/>
                <a:cs typeface="Cambria" charset="0"/>
              </a:rPr>
              <a:t>How a doctor diagnoses diseases is like how a detective investigates crimes.</a:t>
            </a:r>
          </a:p>
          <a:p>
            <a:pPr marL="0" indent="0">
              <a:buNone/>
            </a:pPr>
            <a:endParaRPr lang="en-US" sz="2000" dirty="0">
              <a:latin typeface="Cambria" charset="0"/>
              <a:ea typeface="Cambria" charset="0"/>
              <a:cs typeface="Cambria" charset="0"/>
            </a:endParaRPr>
          </a:p>
          <a:p>
            <a:pPr marL="0" indent="0">
              <a:buNone/>
            </a:pPr>
            <a:endParaRPr lang="en-US" sz="2000" dirty="0">
              <a:latin typeface="Cambria" charset="0"/>
              <a:ea typeface="Cambria" charset="0"/>
              <a:cs typeface="Cambria" charset="0"/>
            </a:endParaRPr>
          </a:p>
        </p:txBody>
      </p:sp>
      <p:sp>
        <p:nvSpPr>
          <p:cNvPr id="5" name="Content Placeholder 4"/>
          <p:cNvSpPr>
            <a:spLocks noGrp="1"/>
          </p:cNvSpPr>
          <p:nvPr>
            <p:ph sz="half" idx="2"/>
          </p:nvPr>
        </p:nvSpPr>
        <p:spPr>
          <a:xfrm>
            <a:off x="4648200" y="1600200"/>
            <a:ext cx="4038600" cy="4991100"/>
          </a:xfrm>
        </p:spPr>
        <p:txBody>
          <a:bodyPr>
            <a:normAutofit/>
          </a:bodyPr>
          <a:lstStyle/>
          <a:p>
            <a:pPr marL="0" indent="0">
              <a:buNone/>
            </a:pPr>
            <a:r>
              <a:rPr lang="en-US" sz="2000" b="1" dirty="0">
                <a:latin typeface="Cambria" charset="0"/>
                <a:ea typeface="Cambria" charset="0"/>
                <a:cs typeface="Cambria" charset="0"/>
              </a:rPr>
              <a:t>Metaphor</a:t>
            </a:r>
            <a:r>
              <a:rPr lang="en-US" sz="2000" dirty="0">
                <a:latin typeface="Cambria" charset="0"/>
                <a:ea typeface="Cambria" charset="0"/>
                <a:cs typeface="Cambria" charset="0"/>
              </a:rPr>
              <a:t> </a:t>
            </a:r>
          </a:p>
          <a:p>
            <a:r>
              <a:rPr lang="en-US" sz="2000" dirty="0">
                <a:latin typeface="Cambria" charset="0"/>
                <a:ea typeface="Cambria" charset="0"/>
                <a:cs typeface="Cambria" charset="0"/>
              </a:rPr>
              <a:t>a </a:t>
            </a:r>
            <a:r>
              <a:rPr lang="en-US" sz="2000" u="sng" dirty="0">
                <a:latin typeface="Cambria" charset="0"/>
                <a:ea typeface="Cambria" charset="0"/>
                <a:cs typeface="Cambria" charset="0"/>
              </a:rPr>
              <a:t>figure of speech</a:t>
            </a:r>
            <a:r>
              <a:rPr lang="en-US" sz="2000" dirty="0">
                <a:latin typeface="Cambria" charset="0"/>
                <a:ea typeface="Cambria" charset="0"/>
                <a:cs typeface="Cambria" charset="0"/>
              </a:rPr>
              <a:t> that makes an implicit, implied, or hidden </a:t>
            </a:r>
            <a:r>
              <a:rPr lang="en-US" sz="2000" u="sng" dirty="0">
                <a:latin typeface="Cambria" charset="0"/>
                <a:ea typeface="Cambria" charset="0"/>
                <a:cs typeface="Cambria" charset="0"/>
              </a:rPr>
              <a:t>comparison</a:t>
            </a:r>
            <a:r>
              <a:rPr lang="en-US" sz="2000" dirty="0">
                <a:latin typeface="Cambria" charset="0"/>
                <a:ea typeface="Cambria" charset="0"/>
                <a:cs typeface="Cambria" charset="0"/>
              </a:rPr>
              <a:t> between two things that are unrelated but share some common characteristics. </a:t>
            </a:r>
          </a:p>
          <a:p>
            <a:r>
              <a:rPr lang="en-US" sz="2000" dirty="0">
                <a:latin typeface="Cambria" charset="0"/>
                <a:ea typeface="Cambria" charset="0"/>
                <a:cs typeface="Cambria" charset="0"/>
              </a:rPr>
              <a:t>a resemblance between two contradictory or different objects is made based on one or more common characteristics.</a:t>
            </a:r>
          </a:p>
          <a:p>
            <a:r>
              <a:rPr lang="en-US" sz="2000" i="1" dirty="0">
                <a:latin typeface="Cambria" charset="0"/>
                <a:ea typeface="Cambria" charset="0"/>
                <a:cs typeface="Cambria" charset="0"/>
              </a:rPr>
              <a:t>Example</a:t>
            </a:r>
            <a:r>
              <a:rPr lang="en-US" sz="2000" dirty="0">
                <a:latin typeface="Cambria" charset="0"/>
                <a:ea typeface="Cambria" charset="0"/>
                <a:cs typeface="Cambria" charset="0"/>
              </a:rPr>
              <a:t>: </a:t>
            </a:r>
            <a:r>
              <a:rPr lang="en-US" sz="2000" dirty="0">
                <a:solidFill>
                  <a:srgbClr val="0070C0"/>
                </a:solidFill>
                <a:latin typeface="Cambria" charset="0"/>
                <a:ea typeface="Cambria" charset="0"/>
                <a:cs typeface="Cambria" charset="0"/>
              </a:rPr>
              <a:t>It’ll be clear sailing from now on. (This implies that clear sailing augurs well; the future will be without hardships).</a:t>
            </a:r>
          </a:p>
        </p:txBody>
      </p:sp>
    </p:spTree>
    <p:extLst>
      <p:ext uri="{BB962C8B-B14F-4D97-AF65-F5344CB8AC3E}">
        <p14:creationId xmlns:p14="http://schemas.microsoft.com/office/powerpoint/2010/main" val="1006927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dirty="0"/>
              <a:t>Turn &amp; Talk</a:t>
            </a:r>
            <a:br>
              <a:rPr lang="en-US" sz="4800" dirty="0"/>
            </a:br>
            <a:r>
              <a:rPr lang="en-US" sz="4000" dirty="0"/>
              <a:t>Ideas on Learning </a:t>
            </a:r>
            <a:r>
              <a:rPr lang="en-US" sz="4000" i="1" dirty="0"/>
              <a:t>Revisited</a:t>
            </a:r>
            <a:endParaRPr lang="en-US" sz="4400" i="1" dirty="0"/>
          </a:p>
        </p:txBody>
      </p:sp>
      <p:sp>
        <p:nvSpPr>
          <p:cNvPr id="3" name="Content Placeholder 2"/>
          <p:cNvSpPr>
            <a:spLocks noGrp="1"/>
          </p:cNvSpPr>
          <p:nvPr>
            <p:ph idx="1"/>
          </p:nvPr>
        </p:nvSpPr>
        <p:spPr>
          <a:xfrm>
            <a:off x="314793" y="1768840"/>
            <a:ext cx="4796853" cy="4691922"/>
          </a:xfrm>
        </p:spPr>
        <p:txBody>
          <a:bodyPr>
            <a:normAutofit lnSpcReduction="10000"/>
          </a:bodyPr>
          <a:lstStyle/>
          <a:p>
            <a:r>
              <a:rPr lang="en-US" sz="2400" dirty="0">
                <a:solidFill>
                  <a:srgbClr val="000000"/>
                </a:solidFill>
              </a:rPr>
              <a:t>What changes did you make or not make?</a:t>
            </a:r>
          </a:p>
          <a:p>
            <a:r>
              <a:rPr lang="en-US" sz="2400" dirty="0">
                <a:solidFill>
                  <a:srgbClr val="000000"/>
                </a:solidFill>
              </a:rPr>
              <a:t>What prompted the changes? What made changes unnecessary?</a:t>
            </a:r>
          </a:p>
          <a:p>
            <a:r>
              <a:rPr lang="en-US" sz="2400" dirty="0">
                <a:solidFill>
                  <a:srgbClr val="000000"/>
                </a:solidFill>
              </a:rPr>
              <a:t>How has your thinking about how people learn evolved and/or deepened?</a:t>
            </a:r>
          </a:p>
          <a:p>
            <a:r>
              <a:rPr lang="en-US" sz="2400" dirty="0">
                <a:solidFill>
                  <a:srgbClr val="000000"/>
                </a:solidFill>
              </a:rPr>
              <a:t>What change or two will you make in your practice to apply ideas and revelations from today’s discussion?</a:t>
            </a:r>
          </a:p>
          <a:p>
            <a:endParaRPr lang="en-US" sz="2400"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82406" y="2166985"/>
            <a:ext cx="3404394" cy="3404394"/>
          </a:xfrm>
          <a:prstGeom prst="rect">
            <a:avLst/>
          </a:prstGeom>
        </p:spPr>
      </p:pic>
    </p:spTree>
    <p:extLst>
      <p:ext uri="{BB962C8B-B14F-4D97-AF65-F5344CB8AC3E}">
        <p14:creationId xmlns:p14="http://schemas.microsoft.com/office/powerpoint/2010/main" val="352453486"/>
      </p:ext>
    </p:extLst>
  </p:cSld>
  <p:clrMapOvr>
    <a:masterClrMapping/>
  </p:clrMapOvr>
</p:sld>
</file>

<file path=ppt/theme/theme1.xml><?xml version="1.0" encoding="utf-8"?>
<a:theme xmlns:a="http://schemas.openxmlformats.org/drawingml/2006/main" name="Module2_Session 2_new">
  <a:themeElements>
    <a:clrScheme name="Custom 1">
      <a:dk1>
        <a:sysClr val="windowText" lastClr="000000"/>
      </a:dk1>
      <a:lt1>
        <a:sysClr val="window" lastClr="FFFFFF"/>
      </a:lt1>
      <a:dk2>
        <a:srgbClr val="1F497D"/>
      </a:dk2>
      <a:lt2>
        <a:srgbClr val="EEECE1"/>
      </a:lt2>
      <a:accent1>
        <a:srgbClr val="EC98BC"/>
      </a:accent1>
      <a:accent2>
        <a:srgbClr val="1B96DB"/>
      </a:accent2>
      <a:accent3>
        <a:srgbClr val="211982"/>
      </a:accent3>
      <a:accent4>
        <a:srgbClr val="F5DAE2"/>
      </a:accent4>
      <a:accent5>
        <a:srgbClr val="C84155"/>
      </a:accent5>
      <a:accent6>
        <a:srgbClr val="EA657A"/>
      </a:accent6>
      <a:hlink>
        <a:srgbClr val="3379C1"/>
      </a:hlink>
      <a:folHlink>
        <a:srgbClr val="16007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Module2_Session 2_new.potx</Template>
  <TotalTime>4085</TotalTime>
  <Words>1903</Words>
  <Application>Microsoft Macintosh PowerPoint</Application>
  <PresentationFormat>On-screen Show (4:3)</PresentationFormat>
  <Paragraphs>193</Paragraphs>
  <Slides>25</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Aller</vt:lpstr>
      <vt:lpstr>Arial</vt:lpstr>
      <vt:lpstr>Calibri</vt:lpstr>
      <vt:lpstr>Cambria</vt:lpstr>
      <vt:lpstr>Gill Sans</vt:lpstr>
      <vt:lpstr>Minion Pro</vt:lpstr>
      <vt:lpstr>Module2_Session 2_new</vt:lpstr>
      <vt:lpstr>Module 2:  How People Learn</vt:lpstr>
      <vt:lpstr>How People Learn</vt:lpstr>
      <vt:lpstr>Module 2. Session 2 Learners’ Prior Knowledge</vt:lpstr>
      <vt:lpstr>Learners’ Prior Knowledge</vt:lpstr>
      <vt:lpstr>Think Pair Share Learners’ Prior Knowledge</vt:lpstr>
      <vt:lpstr>Hands-on Ice Cubes Investigation</vt:lpstr>
      <vt:lpstr>Instructions</vt:lpstr>
      <vt:lpstr>Gather more evidence</vt:lpstr>
      <vt:lpstr>Whole-Community Discussion</vt:lpstr>
      <vt:lpstr>Turn &amp; Talk Ice Cubes Investigation</vt:lpstr>
      <vt:lpstr>Table Talk Hands-on Debrief</vt:lpstr>
      <vt:lpstr>Ice Cubes Explanations: Prediction</vt:lpstr>
      <vt:lpstr>Ice Cubes Explanations: Prediction</vt:lpstr>
      <vt:lpstr>Ice Cubes Explanations: Analysis</vt:lpstr>
      <vt:lpstr>Ice Cubes Explanations:  After seeing results</vt:lpstr>
      <vt:lpstr>Ice Cubes Explanations:  After seeing results</vt:lpstr>
      <vt:lpstr>Ice Cubes Explanations:  After seeing results</vt:lpstr>
      <vt:lpstr>More on Prior Knowledge</vt:lpstr>
      <vt:lpstr>PowerPoint Presentation</vt:lpstr>
      <vt:lpstr>Reading Partner Research Discussion Prior knowledge &amp; Conceptual change</vt:lpstr>
      <vt:lpstr>Whole-Community Discussion  Prior knowledge &amp; Conceptual change</vt:lpstr>
      <vt:lpstr>Summary of Ideas Prior Knowledge and Conceptual Change</vt:lpstr>
      <vt:lpstr>Ideas on Learning Revisited</vt:lpstr>
      <vt:lpstr>Analogy &amp; Metaphor</vt:lpstr>
      <vt:lpstr>Turn &amp; Talk Ideas on Learning Revisited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Kalie Sacco</dc:creator>
  <cp:lastModifiedBy>Heather Lerner</cp:lastModifiedBy>
  <cp:revision>110</cp:revision>
  <dcterms:created xsi:type="dcterms:W3CDTF">2017-03-31T18:21:37Z</dcterms:created>
  <dcterms:modified xsi:type="dcterms:W3CDTF">2024-04-02T15:25:44Z</dcterms:modified>
</cp:coreProperties>
</file>